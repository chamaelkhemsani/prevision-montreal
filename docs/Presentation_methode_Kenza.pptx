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  <Override ContentType="application/vnd.openxmlformats-officedocument.presentationml.slide+xml" PartName="/ppt/slides/slide2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7" r:id="rId44"/>
    <p:sldId id="273" r:id="rId23"/>
    <p:sldId id="274" r:id="rId24"/>
    <p:sldId id="275" r:id="rId25"/>
    <p:sldId id="276" r:id="rId26"/>
  </p:sldIdLst>
  <p:sldSz cy="6858000" cx="12192000"/>
  <p:notesSz cx="6858000" cy="12192000"/>
  <p:embeddedFontLst>
    <p:embeddedFont>
      <p:font typeface="DM Sans Medium"/>
      <p:regular r:id="rId27"/>
      <p:bold r:id="rId28"/>
      <p:italic r:id="rId29"/>
      <p:boldItalic r:id="rId30"/>
    </p:embeddedFont>
    <p:embeddedFont>
      <p:font typeface="Inter"/>
      <p:regular r:id="rId31"/>
      <p:bold r:id="rId32"/>
      <p:italic r:id="rId33"/>
      <p:boldItalic r:id="rId34"/>
    </p:embeddedFont>
    <p:embeddedFont>
      <p:font typeface="DM Sans"/>
      <p:regular r:id="rId35"/>
      <p:bold r:id="rId36"/>
      <p:italic r:id="rId37"/>
      <p:boldItalic r:id="rId38"/>
    </p:embeddedFont>
    <p:embeddedFont>
      <p:font typeface="Merriweather"/>
      <p:regular r:id="rId39"/>
      <p:bold r:id="rId40"/>
      <p:italic r:id="rId41"/>
      <p:boldItalic r:id="rId4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  <p:ext uri="GoogleSlidesCustomDataVersion2">
      <go:slidesCustomData xmlns:go="http://customooxmlschemas.google.com/" r:id="rId43" roundtripDataSignature="AMtx7mhf4Mg8n9wYTzt0KAGMkuhUF/IRM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Merriweather-bold.fntdata"/><Relationship Id="rId20" Type="http://schemas.openxmlformats.org/officeDocument/2006/relationships/slide" Target="slides/slide15.xml"/><Relationship Id="rId42" Type="http://schemas.openxmlformats.org/officeDocument/2006/relationships/font" Target="fonts/Merriweather-boldItalic.fntdata"/><Relationship Id="rId41" Type="http://schemas.openxmlformats.org/officeDocument/2006/relationships/font" Target="fonts/Merriweather-italic.fntdata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43" Type="http://customschemas.google.com/relationships/presentationmetadata" Target="metadata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font" Target="fonts/DMSansMedium-bold.fntdata"/><Relationship Id="rId27" Type="http://schemas.openxmlformats.org/officeDocument/2006/relationships/font" Target="fonts/DMSansMedium-regular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DMSansMedium-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Inter-regular.fntdata"/><Relationship Id="rId30" Type="http://schemas.openxmlformats.org/officeDocument/2006/relationships/font" Target="fonts/DMSansMedium-boldItalic.fntdata"/><Relationship Id="rId11" Type="http://schemas.openxmlformats.org/officeDocument/2006/relationships/slide" Target="slides/slide6.xml"/><Relationship Id="rId33" Type="http://schemas.openxmlformats.org/officeDocument/2006/relationships/font" Target="fonts/Inter-italic.fntdata"/><Relationship Id="rId10" Type="http://schemas.openxmlformats.org/officeDocument/2006/relationships/slide" Target="slides/slide5.xml"/><Relationship Id="rId32" Type="http://schemas.openxmlformats.org/officeDocument/2006/relationships/font" Target="fonts/Inter-bold.fntdata"/><Relationship Id="rId13" Type="http://schemas.openxmlformats.org/officeDocument/2006/relationships/slide" Target="slides/slide8.xml"/><Relationship Id="rId35" Type="http://schemas.openxmlformats.org/officeDocument/2006/relationships/font" Target="fonts/DMSans-regular.fntdata"/><Relationship Id="rId12" Type="http://schemas.openxmlformats.org/officeDocument/2006/relationships/slide" Target="slides/slide7.xml"/><Relationship Id="rId34" Type="http://schemas.openxmlformats.org/officeDocument/2006/relationships/font" Target="fonts/Inter-boldItalic.fntdata"/><Relationship Id="rId15" Type="http://schemas.openxmlformats.org/officeDocument/2006/relationships/slide" Target="slides/slide10.xml"/><Relationship Id="rId37" Type="http://schemas.openxmlformats.org/officeDocument/2006/relationships/font" Target="fonts/DMSans-italic.fntdata"/><Relationship Id="rId14" Type="http://schemas.openxmlformats.org/officeDocument/2006/relationships/slide" Target="slides/slide9.xml"/><Relationship Id="rId36" Type="http://schemas.openxmlformats.org/officeDocument/2006/relationships/font" Target="fonts/DMSans-bold.fntdata"/><Relationship Id="rId17" Type="http://schemas.openxmlformats.org/officeDocument/2006/relationships/slide" Target="slides/slide12.xml"/><Relationship Id="rId39" Type="http://schemas.openxmlformats.org/officeDocument/2006/relationships/font" Target="fonts/Merriweather-regular.fntdata"/><Relationship Id="rId16" Type="http://schemas.openxmlformats.org/officeDocument/2006/relationships/slide" Target="slides/slide11.xml"/><Relationship Id="rId38" Type="http://schemas.openxmlformats.org/officeDocument/2006/relationships/font" Target="fonts/DMSans-boldItalic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Relationship Id="rId44" Type="http://schemas.openxmlformats.org/officeDocument/2006/relationships/slide" Target="slides/slide2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914400"/>
            <a:ext cx="4572225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" name="Google Shape;15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" name="Google Shape;25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7" name="Google Shape;57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7" name="Google Shape;77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f667f0c552_0_3:notes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g3f667f0c552_0_3:notes"/>
          <p:cNvSpPr/>
          <p:nvPr>
            <p:ph idx="2" type="sldImg"/>
          </p:nvPr>
        </p:nvSpPr>
        <p:spPr>
          <a:xfrm>
            <a:off x="1143225" y="914400"/>
            <a:ext cx="4572300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f667f0c552_0_118:notes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g3f667f0c552_0_118:notes"/>
          <p:cNvSpPr/>
          <p:nvPr>
            <p:ph idx="2" type="sldImg"/>
          </p:nvPr>
        </p:nvSpPr>
        <p:spPr>
          <a:xfrm>
            <a:off x="1143225" y="914400"/>
            <a:ext cx="4572300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2" name="Google Shape;152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7" name="Google Shape;177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4" name="Google Shape;194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0" name="Google Shape;220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5" name="Google Shape;255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8" name="Google Shape;278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0" name="Google Shape;290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1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1" name="Google Shape;301;p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1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3" name="Google Shape;313;p1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5" name="Google Shape;325;p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9" name="Google Shape;349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6" name="Google Shape;396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22" name="Google Shape;422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4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g3f6e2a12bd2_0_4:notes"/>
          <p:cNvSpPr/>
          <p:nvPr>
            <p:ph idx="2" type="sldImg"/>
          </p:nvPr>
        </p:nvSpPr>
        <p:spPr>
          <a:xfrm>
            <a:off x="1143225" y="914400"/>
            <a:ext cx="4572300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6" name="Google Shape;446;g3f6e2a12bd2_0_4:notes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6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p2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68" name="Google Shape;468;p2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2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22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3f667f0c552_0_111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" name="Google Shape;11;g3f667f0c552_0_111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" name="Google Shape;12;g3f667f0c552_0_111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1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buNone/>
              <a:defRPr sz="1300">
                <a:solidFill>
                  <a:schemeClr val="tx1"/>
                </a:solidFill>
              </a:defRPr>
            </a:lvl1pPr>
            <a:lvl2pPr lvl="1" algn="r">
              <a:buNone/>
              <a:defRPr sz="1300">
                <a:solidFill>
                  <a:schemeClr val="tx1"/>
                </a:solidFill>
              </a:defRPr>
            </a:lvl2pPr>
            <a:lvl3pPr lvl="2" algn="r">
              <a:buNone/>
              <a:defRPr sz="1300">
                <a:solidFill>
                  <a:schemeClr val="tx1"/>
                </a:solidFill>
              </a:defRPr>
            </a:lvl3pPr>
            <a:lvl4pPr lvl="3" algn="r">
              <a:buNone/>
              <a:defRPr sz="1300">
                <a:solidFill>
                  <a:schemeClr val="tx1"/>
                </a:solidFill>
              </a:defRPr>
            </a:lvl4pPr>
            <a:lvl5pPr lvl="4" algn="r">
              <a:buNone/>
              <a:defRPr sz="1300">
                <a:solidFill>
                  <a:schemeClr val="tx1"/>
                </a:solidFill>
              </a:defRPr>
            </a:lvl5pPr>
            <a:lvl6pPr lvl="5" algn="r">
              <a:buNone/>
              <a:defRPr sz="1300">
                <a:solidFill>
                  <a:schemeClr val="tx1"/>
                </a:solidFill>
              </a:defRPr>
            </a:lvl6pPr>
            <a:lvl7pPr lvl="6" algn="r">
              <a:buNone/>
              <a:defRPr sz="1300">
                <a:solidFill>
                  <a:schemeClr val="tx1"/>
                </a:solidFill>
              </a:defRPr>
            </a:lvl7pPr>
            <a:lvl8pPr lvl="7" algn="r">
              <a:buNone/>
              <a:defRPr sz="1300">
                <a:solidFill>
                  <a:schemeClr val="tx1"/>
                </a:solidFill>
              </a:defRPr>
            </a:lvl8pPr>
            <a:lvl9pPr lvl="8" algn="r">
              <a:buNone/>
              <a:defRPr sz="1300">
                <a:solidFill>
                  <a:schemeClr val="tx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png"/><Relationship Id="rId4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1" Type="http://schemas.openxmlformats.org/officeDocument/2006/relationships/image" Target="../media/image12.png"/><Relationship Id="rId10" Type="http://schemas.openxmlformats.org/officeDocument/2006/relationships/image" Target="../media/image4.png"/><Relationship Id="rId13" Type="http://schemas.openxmlformats.org/officeDocument/2006/relationships/image" Target="../media/image15.png"/><Relationship Id="rId1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Relationship Id="rId4" Type="http://schemas.openxmlformats.org/officeDocument/2006/relationships/image" Target="../media/image8.png"/><Relationship Id="rId9" Type="http://schemas.openxmlformats.org/officeDocument/2006/relationships/image" Target="../media/image7.png"/><Relationship Id="rId15" Type="http://schemas.openxmlformats.org/officeDocument/2006/relationships/image" Target="../media/image5.png"/><Relationship Id="rId14" Type="http://schemas.openxmlformats.org/officeDocument/2006/relationships/image" Target="../media/image3.png"/><Relationship Id="rId5" Type="http://schemas.openxmlformats.org/officeDocument/2006/relationships/image" Target="../media/image2.png"/><Relationship Id="rId6" Type="http://schemas.openxmlformats.org/officeDocument/2006/relationships/image" Target="../media/image17.png"/><Relationship Id="rId7" Type="http://schemas.openxmlformats.org/officeDocument/2006/relationships/image" Target="../media/image16.png"/><Relationship Id="rId8" Type="http://schemas.openxmlformats.org/officeDocument/2006/relationships/image" Target="../media/image10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9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8.png"/><Relationship Id="rId4" Type="http://schemas.openxmlformats.org/officeDocument/2006/relationships/image" Target="../media/image2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"/>
          <p:cNvSpPr/>
          <p:nvPr/>
        </p:nvSpPr>
        <p:spPr>
          <a:xfrm>
            <a:off x="777240" y="1143000"/>
            <a:ext cx="10607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400"/>
              <a:buFont typeface="Calibri"/>
              <a:buNone/>
            </a:pPr>
            <a:r>
              <a:rPr b="1" i="0" lang="en-US" sz="11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MÉTHODE KENZA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777240" y="1691640"/>
            <a:ext cx="1069848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Arial"/>
              <a:buNone/>
            </a:pPr>
            <a:r>
              <a:rPr b="1" i="0" lang="en-US" sz="34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Prévision du trafic aérien à long terme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777240" y="3154680"/>
            <a:ext cx="10515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800"/>
              <a:buFont typeface="Calibri"/>
              <a:buNone/>
            </a:pPr>
            <a:r>
              <a:rPr b="0" i="0" lang="en-US" sz="17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Méthode Kenza - Implémentation de la solution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777240" y="4160520"/>
            <a:ext cx="98755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500"/>
              <a:buFont typeface="Calibri"/>
              <a:buNone/>
            </a:pPr>
            <a:r>
              <a:rPr b="0" i="0" lang="en-US" sz="12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Présenté par : Chama EL KHEMSANI - </a:t>
            </a:r>
            <a:r>
              <a:rPr lang="en-US" sz="1250">
                <a:solidFill>
                  <a:srgbClr val="6F7A84"/>
                </a:solidFill>
              </a:rPr>
              <a:t>Elève</a:t>
            </a:r>
            <a:r>
              <a:rPr b="0" i="0" lang="en-US" sz="12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 à l</a:t>
            </a:r>
            <a:r>
              <a:rPr lang="en-US" sz="1250">
                <a:solidFill>
                  <a:srgbClr val="6F7A84"/>
                </a:solidFill>
              </a:rPr>
              <a:t>’Ecole Nationale de l’Aviation Civile (ENAC) de Toulouse</a:t>
            </a:r>
            <a:endParaRPr b="0" i="0" sz="1250" u="none" cap="none" strike="noStrike">
              <a:solidFill>
                <a:srgbClr val="6F7A8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500"/>
              <a:buFont typeface="Calibri"/>
              <a:buNone/>
            </a:pPr>
            <a:r>
              <a:rPr b="0" i="0" lang="en-US" sz="12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Tutoré par : Fabian </a:t>
            </a:r>
            <a:r>
              <a:rPr lang="en-US" sz="1250">
                <a:solidFill>
                  <a:srgbClr val="6F7A84"/>
                </a:solidFill>
              </a:rPr>
              <a:t>BASTIN - Professeur en informatique et recherche opérationnelle à l'Université de Montréal</a:t>
            </a:r>
            <a:endParaRPr b="0" i="0" sz="1250" u="none" cap="none" strike="noStrike">
              <a:solidFill>
                <a:srgbClr val="6F7A8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500"/>
              <a:buFont typeface="Calibri"/>
              <a:buNone/>
            </a:pPr>
            <a:r>
              <a:rPr b="0" i="0" lang="en-US" sz="12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Avec l’aide de : Daniel </a:t>
            </a:r>
            <a:r>
              <a:rPr lang="en-US" sz="1250">
                <a:solidFill>
                  <a:srgbClr val="6F7A84"/>
                </a:solidFill>
              </a:rPr>
              <a:t>SALLIER - Market Expert</a:t>
            </a:r>
            <a:endParaRPr b="0" i="0" sz="1250" u="none" cap="none" strike="noStrike">
              <a:solidFill>
                <a:srgbClr val="6F7A8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500"/>
              <a:buFont typeface="Calibri"/>
              <a:buNone/>
            </a:pPr>
            <a:r>
              <a:rPr b="0" i="0" lang="en-US" sz="12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r>
              <a:rPr lang="en-US" sz="1250">
                <a:solidFill>
                  <a:srgbClr val="6F7A84"/>
                </a:solidFill>
              </a:rPr>
              <a:t/>
            </a:r>
            <a:r>
              <a:rPr b="0" i="0" lang="en-US" sz="12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ORDRE DU JOUR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Plan de la présentation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2"/>
          <p:cNvSpPr/>
          <p:nvPr/>
        </p:nvSpPr>
        <p:spPr>
          <a:xfrm>
            <a:off x="457200" y="118872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2"/>
          <p:cNvSpPr/>
          <p:nvPr/>
        </p:nvSpPr>
        <p:spPr>
          <a:xfrm>
            <a:off x="685800" y="141732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2"/>
          <p:cNvSpPr/>
          <p:nvPr/>
        </p:nvSpPr>
        <p:spPr>
          <a:xfrm>
            <a:off x="1554480" y="141732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Objectifs &amp; contexte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2"/>
          <p:cNvSpPr/>
          <p:nvPr/>
        </p:nvSpPr>
        <p:spPr>
          <a:xfrm>
            <a:off x="457200" y="228600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Google Shape;34;p2"/>
          <p:cNvSpPr/>
          <p:nvPr/>
        </p:nvSpPr>
        <p:spPr>
          <a:xfrm>
            <a:off x="685800" y="251460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2"/>
          <p:cNvSpPr/>
          <p:nvPr/>
        </p:nvSpPr>
        <p:spPr>
          <a:xfrm>
            <a:off x="1554480" y="251460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Méthode Kenza - fondements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2"/>
          <p:cNvSpPr/>
          <p:nvPr/>
        </p:nvSpPr>
        <p:spPr>
          <a:xfrm>
            <a:off x="457200" y="338328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2"/>
          <p:cNvSpPr/>
          <p:nvPr/>
        </p:nvSpPr>
        <p:spPr>
          <a:xfrm>
            <a:off x="685800" y="361188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2"/>
          <p:cNvSpPr/>
          <p:nvPr/>
        </p:nvSpPr>
        <p:spPr>
          <a:xfrm>
            <a:off x="1554480" y="361188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Avantages de la méthode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2"/>
          <p:cNvSpPr/>
          <p:nvPr/>
        </p:nvSpPr>
        <p:spPr>
          <a:xfrm>
            <a:off x="457200" y="448056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40;p2"/>
          <p:cNvSpPr/>
          <p:nvPr/>
        </p:nvSpPr>
        <p:spPr>
          <a:xfrm>
            <a:off x="685800" y="470916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2"/>
          <p:cNvSpPr/>
          <p:nvPr/>
        </p:nvSpPr>
        <p:spPr>
          <a:xfrm>
            <a:off x="1554480" y="470916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Données nécessaires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"/>
          <p:cNvSpPr/>
          <p:nvPr/>
        </p:nvSpPr>
        <p:spPr>
          <a:xfrm>
            <a:off x="6217920" y="118872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2"/>
          <p:cNvSpPr/>
          <p:nvPr/>
        </p:nvSpPr>
        <p:spPr>
          <a:xfrm>
            <a:off x="6446520" y="141732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2"/>
          <p:cNvSpPr/>
          <p:nvPr/>
        </p:nvSpPr>
        <p:spPr>
          <a:xfrm>
            <a:off x="7315200" y="141732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Implémentation &amp; démonstration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2"/>
          <p:cNvSpPr/>
          <p:nvPr/>
        </p:nvSpPr>
        <p:spPr>
          <a:xfrm>
            <a:off x="6217920" y="228600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2"/>
          <p:cNvSpPr/>
          <p:nvPr/>
        </p:nvSpPr>
        <p:spPr>
          <a:xfrm>
            <a:off x="6446520" y="251460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2"/>
          <p:cNvSpPr/>
          <p:nvPr/>
        </p:nvSpPr>
        <p:spPr>
          <a:xfrm>
            <a:off x="7315200" y="251460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Résultats historiques &amp; variantes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2"/>
          <p:cNvSpPr/>
          <p:nvPr/>
        </p:nvSpPr>
        <p:spPr>
          <a:xfrm>
            <a:off x="6217920" y="338328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p2"/>
          <p:cNvSpPr/>
          <p:nvPr/>
        </p:nvSpPr>
        <p:spPr>
          <a:xfrm>
            <a:off x="6446520" y="361188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2"/>
          <p:cNvSpPr/>
          <p:nvPr/>
        </p:nvSpPr>
        <p:spPr>
          <a:xfrm>
            <a:off x="7315200" y="361188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Scénarios &amp; arbitrages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"/>
          <p:cNvSpPr/>
          <p:nvPr/>
        </p:nvSpPr>
        <p:spPr>
          <a:xfrm>
            <a:off x="6217920" y="448056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2"/>
          <p:cNvSpPr/>
          <p:nvPr/>
        </p:nvSpPr>
        <p:spPr>
          <a:xfrm>
            <a:off x="6446520" y="470916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2"/>
          <p:cNvSpPr/>
          <p:nvPr/>
        </p:nvSpPr>
        <p:spPr>
          <a:xfrm>
            <a:off x="7315200" y="470916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Décisions attendues &amp; prochaines étapes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2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3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01  ·  OBJECTIFS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3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Objectifs de la présentation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3"/>
          <p:cNvSpPr/>
          <p:nvPr/>
        </p:nvSpPr>
        <p:spPr>
          <a:xfrm>
            <a:off x="457200" y="1143000"/>
            <a:ext cx="11247120" cy="1005840"/>
          </a:xfrm>
          <a:prstGeom prst="roundRect">
            <a:avLst>
              <a:gd fmla="val 727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3"/>
          <p:cNvSpPr/>
          <p:nvPr/>
        </p:nvSpPr>
        <p:spPr>
          <a:xfrm>
            <a:off x="822960" y="128016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Présenter la méthode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3"/>
          <p:cNvSpPr/>
          <p:nvPr/>
        </p:nvSpPr>
        <p:spPr>
          <a:xfrm>
            <a:off x="822960" y="1600200"/>
            <a:ext cx="10515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Kenza, ses fondements économiques et mathématiques, et son adéquation avec les besoins de l'aéroport.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3"/>
          <p:cNvSpPr/>
          <p:nvPr/>
        </p:nvSpPr>
        <p:spPr>
          <a:xfrm>
            <a:off x="457200" y="2286000"/>
            <a:ext cx="11247120" cy="1005840"/>
          </a:xfrm>
          <a:prstGeom prst="roundRect">
            <a:avLst>
              <a:gd fmla="val 727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3"/>
          <p:cNvSpPr/>
          <p:nvPr/>
        </p:nvSpPr>
        <p:spPr>
          <a:xfrm>
            <a:off x="822960" y="242316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Implémentation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3"/>
          <p:cNvSpPr/>
          <p:nvPr/>
        </p:nvSpPr>
        <p:spPr>
          <a:xfrm>
            <a:off x="822960" y="2743200"/>
            <a:ext cx="10515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Outil déjà fonctionnel, avec interface et exports multi-formats.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457200" y="3429000"/>
            <a:ext cx="11247120" cy="1005840"/>
          </a:xfrm>
          <a:prstGeom prst="roundRect">
            <a:avLst>
              <a:gd fmla="val 727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3"/>
          <p:cNvSpPr/>
          <p:nvPr/>
        </p:nvSpPr>
        <p:spPr>
          <a:xfrm>
            <a:off x="822960" y="356616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À valider avec l'exploitant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3"/>
          <p:cNvSpPr/>
          <p:nvPr/>
        </p:nvSpPr>
        <p:spPr>
          <a:xfrm>
            <a:off x="822960" y="3886200"/>
            <a:ext cx="10515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Données disponibles, hypothèses macro, scénarios (central / haut / bas), contraintes de capacité.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457200" y="4572000"/>
            <a:ext cx="11247120" cy="1005840"/>
          </a:xfrm>
          <a:prstGeom prst="roundRect">
            <a:avLst>
              <a:gd fmla="val 727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822960" y="470916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Obtenir les orientations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822960" y="5029200"/>
            <a:ext cx="10515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Finaliser le calibrage et livrer les prévisions opérationnelles à horizon 20-30 ans.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3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4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01  ·  CONTEXTE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4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Problème à traiter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4"/>
          <p:cNvSpPr/>
          <p:nvPr/>
        </p:nvSpPr>
        <p:spPr>
          <a:xfrm>
            <a:off x="457200" y="1097280"/>
            <a:ext cx="11247120" cy="1188720"/>
          </a:xfrm>
          <a:prstGeom prst="roundRect">
            <a:avLst>
              <a:gd fmla="val 615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4"/>
          <p:cNvSpPr/>
          <p:nvPr/>
        </p:nvSpPr>
        <p:spPr>
          <a:xfrm>
            <a:off x="685800" y="1234440"/>
            <a:ext cx="107899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Un exploitant aéroportuaire doit planifier ses infrastructures (terminal, pistes, parkings), ses financements et ses stratégies commerciales à un horizon de 20 à 30 ans.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4"/>
          <p:cNvSpPr/>
          <p:nvPr/>
        </p:nvSpPr>
        <p:spPr>
          <a:xfrm>
            <a:off x="457200" y="2560320"/>
            <a:ext cx="5486400" cy="1371600"/>
          </a:xfrm>
          <a:prstGeom prst="roundRect">
            <a:avLst>
              <a:gd fmla="val 533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4"/>
          <p:cNvSpPr/>
          <p:nvPr/>
        </p:nvSpPr>
        <p:spPr>
          <a:xfrm>
            <a:off x="731520" y="2788920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Explicable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4"/>
          <p:cNvSpPr/>
          <p:nvPr/>
        </p:nvSpPr>
        <p:spPr>
          <a:xfrm>
            <a:off x="731520" y="3246120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Les décideurs doivent comprendre la construction du modèle.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4"/>
          <p:cNvSpPr/>
          <p:nvPr/>
        </p:nvSpPr>
        <p:spPr>
          <a:xfrm>
            <a:off x="6217920" y="2560320"/>
            <a:ext cx="5486400" cy="1371600"/>
          </a:xfrm>
          <a:prstGeom prst="roundRect">
            <a:avLst>
              <a:gd fmla="val 533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4"/>
          <p:cNvSpPr/>
          <p:nvPr/>
        </p:nvSpPr>
        <p:spPr>
          <a:xfrm>
            <a:off x="6492240" y="2788920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Paramétrable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4"/>
          <p:cNvSpPr/>
          <p:nvPr/>
        </p:nvSpPr>
        <p:spPr>
          <a:xfrm>
            <a:off x="6492240" y="3246120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Tester différents scénarios (PIB, population, prix, concurrence).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4"/>
          <p:cNvSpPr/>
          <p:nvPr/>
        </p:nvSpPr>
        <p:spPr>
          <a:xfrm>
            <a:off x="457200" y="4114800"/>
            <a:ext cx="5486400" cy="1371600"/>
          </a:xfrm>
          <a:prstGeom prst="roundRect">
            <a:avLst>
              <a:gd fmla="val 533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4"/>
          <p:cNvSpPr/>
          <p:nvPr/>
        </p:nvSpPr>
        <p:spPr>
          <a:xfrm>
            <a:off x="731520" y="4343400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Utilisable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4"/>
          <p:cNvSpPr/>
          <p:nvPr/>
        </p:nvSpPr>
        <p:spPr>
          <a:xfrm>
            <a:off x="731520" y="4800600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Fournir ordres de grandeur, tendances et fourchettes de confiance.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4"/>
          <p:cNvSpPr/>
          <p:nvPr/>
        </p:nvSpPr>
        <p:spPr>
          <a:xfrm>
            <a:off x="6217920" y="4114800"/>
            <a:ext cx="5486400" cy="1371600"/>
          </a:xfrm>
          <a:prstGeom prst="roundRect">
            <a:avLst>
              <a:gd fmla="val 533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4"/>
          <p:cNvSpPr/>
          <p:nvPr/>
        </p:nvSpPr>
        <p:spPr>
          <a:xfrm>
            <a:off x="6492240" y="4343400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Adaptée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4"/>
          <p:cNvSpPr/>
          <p:nvPr/>
        </p:nvSpPr>
        <p:spPr>
          <a:xfrm>
            <a:off x="6492240" y="4800600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Aux données disponibles et aux spécificités locales.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4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01" name="Google Shape;101;g3f667f0c552_0_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4000" y="2603897"/>
            <a:ext cx="35876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2" name="Google Shape;102;g3f667f0c552_0_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02150" y="2603897"/>
            <a:ext cx="3587799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3" name="Google Shape;103;g3f667f0c552_0_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80450" y="2603897"/>
            <a:ext cx="3587650" cy="1895475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g3f667f0c552_0_3"/>
          <p:cNvSpPr txBox="1"/>
          <p:nvPr/>
        </p:nvSpPr>
        <p:spPr>
          <a:xfrm>
            <a:off x="523875" y="428625"/>
            <a:ext cx="111444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2B6F7F"/>
                </a:solidFill>
              </a:rPr>
              <a:t>02 · MÉTHODE KENZA</a:t>
            </a:r>
            <a:endParaRPr/>
          </a:p>
        </p:txBody>
      </p:sp>
      <p:sp>
        <p:nvSpPr>
          <p:cNvPr id="105" name="Google Shape;105;g3f667f0c552_0_3"/>
          <p:cNvSpPr txBox="1"/>
          <p:nvPr/>
        </p:nvSpPr>
        <p:spPr>
          <a:xfrm>
            <a:off x="523875" y="638175"/>
            <a:ext cx="116682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17324D"/>
                </a:solidFill>
              </a:rPr>
              <a:t>Mécanisme et logique comportementale</a:t>
            </a:r>
            <a:endParaRPr/>
          </a:p>
        </p:txBody>
      </p:sp>
      <p:sp>
        <p:nvSpPr>
          <p:cNvPr id="106" name="Google Shape;106;g3f667f0c552_0_3"/>
          <p:cNvSpPr txBox="1"/>
          <p:nvPr/>
        </p:nvSpPr>
        <p:spPr>
          <a:xfrm>
            <a:off x="1165007" y="2842025"/>
            <a:ext cx="2267536" cy="3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50" u="none" cap="none" strike="noStrike">
                <a:solidFill>
                  <a:srgbClr val="0369A1"/>
                </a:solidFill>
                <a:latin typeface="Inter"/>
                <a:ea typeface="Inter"/>
                <a:cs typeface="Inter"/>
                <a:sym typeface="Inter"/>
              </a:rPr>
              <a:t>Envie de voyager</a:t>
            </a:r>
            <a:endParaRPr/>
          </a:p>
        </p:txBody>
      </p:sp>
      <p:sp>
        <p:nvSpPr>
          <p:cNvPr id="107" name="Google Shape;107;g3f667f0c552_0_3"/>
          <p:cNvSpPr txBox="1"/>
          <p:nvPr/>
        </p:nvSpPr>
        <p:spPr>
          <a:xfrm>
            <a:off x="584275" y="3194450"/>
            <a:ext cx="34290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Propension à la mobilité</a:t>
            </a:r>
            <a:endParaRPr/>
          </a:p>
        </p:txBody>
      </p:sp>
      <p:sp>
        <p:nvSpPr>
          <p:cNvPr id="108" name="Google Shape;108;g3f667f0c552_0_3"/>
          <p:cNvSpPr txBox="1"/>
          <p:nvPr/>
        </p:nvSpPr>
        <p:spPr>
          <a:xfrm>
            <a:off x="724025" y="3489722"/>
            <a:ext cx="3187500" cy="85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12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Déterminée par les facteurs culturels, touristiques et professionnels. Traduit la capacité d'une population à transformer son potentiel économique en voyages réels.</a:t>
            </a:r>
            <a:endParaRPr/>
          </a:p>
        </p:txBody>
      </p:sp>
      <p:sp>
        <p:nvSpPr>
          <p:cNvPr id="109" name="Google Shape;109;g3f667f0c552_0_3"/>
          <p:cNvSpPr txBox="1"/>
          <p:nvPr/>
        </p:nvSpPr>
        <p:spPr>
          <a:xfrm>
            <a:off x="4272021" y="2842025"/>
            <a:ext cx="3587700" cy="3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50" u="none" cap="none" strike="noStrike">
                <a:solidFill>
                  <a:srgbClr val="0369A1"/>
                </a:solidFill>
                <a:latin typeface="Inter"/>
                <a:ea typeface="Inter"/>
                <a:cs typeface="Inter"/>
                <a:sym typeface="Inter"/>
              </a:rPr>
              <a:t>Prix absolu</a:t>
            </a:r>
            <a:endParaRPr/>
          </a:p>
        </p:txBody>
      </p:sp>
      <p:sp>
        <p:nvSpPr>
          <p:cNvPr id="110" name="Google Shape;110;g3f667f0c552_0_3"/>
          <p:cNvSpPr txBox="1"/>
          <p:nvPr/>
        </p:nvSpPr>
        <p:spPr>
          <a:xfrm>
            <a:off x="4302025" y="3194450"/>
            <a:ext cx="35877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Barrière immédiate à l'achat</a:t>
            </a:r>
            <a:endParaRPr/>
          </a:p>
        </p:txBody>
      </p:sp>
      <p:sp>
        <p:nvSpPr>
          <p:cNvPr id="111" name="Google Shape;111;g3f667f0c552_0_3"/>
          <p:cNvSpPr txBox="1"/>
          <p:nvPr/>
        </p:nvSpPr>
        <p:spPr>
          <a:xfrm>
            <a:off x="4502175" y="3489722"/>
            <a:ext cx="3187800" cy="85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12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Effet direct du montant brut du billet (ex. 1 000 $). Une hausse de ce coût décourage la dépense, reporte le déplacement ou détourne vers d'autres destinations.</a:t>
            </a:r>
            <a:endParaRPr/>
          </a:p>
        </p:txBody>
      </p:sp>
      <p:sp>
        <p:nvSpPr>
          <p:cNvPr id="112" name="Google Shape;112;g3f667f0c552_0_3"/>
          <p:cNvSpPr txBox="1"/>
          <p:nvPr/>
        </p:nvSpPr>
        <p:spPr>
          <a:xfrm>
            <a:off x="8080450" y="2842025"/>
            <a:ext cx="3587700" cy="3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50" u="none" cap="none" strike="noStrike">
                <a:solidFill>
                  <a:srgbClr val="0369A1"/>
                </a:solidFill>
                <a:latin typeface="Inter"/>
                <a:ea typeface="Inter"/>
                <a:cs typeface="Inter"/>
                <a:sym typeface="Inter"/>
              </a:rPr>
              <a:t>Prix relatif</a:t>
            </a:r>
            <a:endParaRPr/>
          </a:p>
        </p:txBody>
      </p:sp>
      <p:sp>
        <p:nvSpPr>
          <p:cNvPr id="113" name="Google Shape;113;g3f667f0c552_0_3"/>
          <p:cNvSpPr txBox="1"/>
          <p:nvPr/>
        </p:nvSpPr>
        <p:spPr>
          <a:xfrm>
            <a:off x="8080400" y="3194450"/>
            <a:ext cx="35877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Poids sur le revenu disponible</a:t>
            </a:r>
            <a:endParaRPr/>
          </a:p>
        </p:txBody>
      </p:sp>
      <p:sp>
        <p:nvSpPr>
          <p:cNvPr id="114" name="Google Shape;114;g3f667f0c552_0_3"/>
          <p:cNvSpPr txBox="1"/>
          <p:nvPr/>
        </p:nvSpPr>
        <p:spPr>
          <a:xfrm>
            <a:off x="8280475" y="3489722"/>
            <a:ext cx="3187500" cy="85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12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Part du revenu sacrifiée pour voyager. Un même billet peut être accessible aux ménages aisés et prohibitif pour les bas revenus. Moteur principal de l'accessibilité.</a:t>
            </a:r>
            <a:endParaRPr/>
          </a:p>
        </p:txBody>
      </p:sp>
      <p:sp>
        <p:nvSpPr>
          <p:cNvPr id="115" name="Google Shape;115;g3f667f0c552_0_3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20" name="Google Shape;120;g3f667f0c552_0_1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3875" y="4539704"/>
            <a:ext cx="11144250" cy="18895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1" name="Google Shape;121;g3f667f0c552_0_1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23875" y="1950987"/>
            <a:ext cx="3587650" cy="193119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2" name="Google Shape;122;g3f667f0c552_0_1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02025" y="1950987"/>
            <a:ext cx="3587799" cy="193119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3" name="Google Shape;123;g3f667f0c552_0_1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080325" y="1950987"/>
            <a:ext cx="3587650" cy="193119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4" name="Google Shape;124;g3f667f0c552_0_11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0100" y="5130254"/>
            <a:ext cx="3429000" cy="106084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5" name="Google Shape;125;g3f667f0c552_0_11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381500" y="5130254"/>
            <a:ext cx="3429000" cy="106084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6" name="Google Shape;126;g3f667f0c552_0_11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962900" y="5130254"/>
            <a:ext cx="3429000" cy="106084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7" name="Google Shape;127;g3f667f0c552_0_118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674000" y="2217687"/>
            <a:ext cx="2400300" cy="428625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g3f667f0c552_0_118"/>
          <p:cNvSpPr txBox="1"/>
          <p:nvPr/>
        </p:nvSpPr>
        <p:spPr>
          <a:xfrm>
            <a:off x="523875" y="428625"/>
            <a:ext cx="111444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2B6F7F"/>
                </a:solidFill>
              </a:rPr>
              <a:t>02 · MÉTHODE</a:t>
            </a:r>
            <a:r>
              <a:rPr b="1" i="0" lang="en-US" sz="975" u="none" cap="none" strike="noStrike">
                <a:solidFill>
                  <a:srgbClr val="0284C7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b="1" lang="en-US" sz="1050">
                <a:solidFill>
                  <a:srgbClr val="2B6F7F"/>
                </a:solidFill>
              </a:rPr>
              <a:t>KENZA</a:t>
            </a:r>
            <a:endParaRPr/>
          </a:p>
        </p:txBody>
      </p:sp>
      <p:sp>
        <p:nvSpPr>
          <p:cNvPr id="129" name="Google Shape;129;g3f667f0c552_0_118"/>
          <p:cNvSpPr txBox="1"/>
          <p:nvPr/>
        </p:nvSpPr>
        <p:spPr>
          <a:xfrm>
            <a:off x="523875" y="638175"/>
            <a:ext cx="116682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17324D"/>
                </a:solidFill>
              </a:rPr>
              <a:t>Une méthode éprouvée et adoptée par des acteurs majeurs</a:t>
            </a:r>
            <a:endParaRPr/>
          </a:p>
        </p:txBody>
      </p:sp>
      <p:sp>
        <p:nvSpPr>
          <p:cNvPr id="130" name="Google Shape;130;g3f667f0c552_0_118"/>
          <p:cNvSpPr txBox="1"/>
          <p:nvPr/>
        </p:nvSpPr>
        <p:spPr>
          <a:xfrm>
            <a:off x="800100" y="4777829"/>
            <a:ext cx="10591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Un standard de marché validé par la pratique industrielle</a:t>
            </a:r>
            <a:endParaRPr/>
          </a:p>
        </p:txBody>
      </p:sp>
      <p:sp>
        <p:nvSpPr>
          <p:cNvPr id="131" name="Google Shape;131;g3f667f0c552_0_118"/>
          <p:cNvSpPr txBox="1"/>
          <p:nvPr/>
        </p:nvSpPr>
        <p:spPr>
          <a:xfrm>
            <a:off x="573125" y="2757817"/>
            <a:ext cx="35877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Constructeurs aéronautiques</a:t>
            </a:r>
            <a:endParaRPr/>
          </a:p>
        </p:txBody>
      </p:sp>
      <p:sp>
        <p:nvSpPr>
          <p:cNvPr id="132" name="Google Shape;132;g3f667f0c552_0_118"/>
          <p:cNvSpPr txBox="1"/>
          <p:nvPr/>
        </p:nvSpPr>
        <p:spPr>
          <a:xfrm>
            <a:off x="723900" y="3084462"/>
            <a:ext cx="3187500" cy="6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12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Utilisée pour calibrer les études de marché globales, modéliser la demande long terme d'aéronefs et anticiper le dimensionnement des flottes mondiales.</a:t>
            </a:r>
            <a:endParaRPr/>
          </a:p>
        </p:txBody>
      </p:sp>
      <p:sp>
        <p:nvSpPr>
          <p:cNvPr id="133" name="Google Shape;133;g3f667f0c552_0_118"/>
          <p:cNvSpPr txBox="1"/>
          <p:nvPr/>
        </p:nvSpPr>
        <p:spPr>
          <a:xfrm>
            <a:off x="4385974" y="2768992"/>
            <a:ext cx="35040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Gestionnaires d'aéroports</a:t>
            </a:r>
            <a:endParaRPr/>
          </a:p>
        </p:txBody>
      </p:sp>
      <p:sp>
        <p:nvSpPr>
          <p:cNvPr id="134" name="Google Shape;134;g3f667f0c552_0_118"/>
          <p:cNvSpPr txBox="1"/>
          <p:nvPr/>
        </p:nvSpPr>
        <p:spPr>
          <a:xfrm>
            <a:off x="4502050" y="3084462"/>
            <a:ext cx="3187800" cy="6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12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Adoptée par le Groupe ADP pour planifier les capacités terminales, orienter les investissements d'infrastructures et projeter les flux de passagers.</a:t>
            </a:r>
            <a:endParaRPr/>
          </a:p>
        </p:txBody>
      </p:sp>
      <p:sp>
        <p:nvSpPr>
          <p:cNvPr id="135" name="Google Shape;135;g3f667f0c552_0_118"/>
          <p:cNvSpPr txBox="1"/>
          <p:nvPr/>
        </p:nvSpPr>
        <p:spPr>
          <a:xfrm>
            <a:off x="8144950" y="2808225"/>
            <a:ext cx="35040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Compagnies aériennes</a:t>
            </a:r>
            <a:endParaRPr/>
          </a:p>
        </p:txBody>
      </p:sp>
      <p:sp>
        <p:nvSpPr>
          <p:cNvPr id="136" name="Google Shape;136;g3f667f0c552_0_118"/>
          <p:cNvSpPr txBox="1"/>
          <p:nvPr/>
        </p:nvSpPr>
        <p:spPr>
          <a:xfrm>
            <a:off x="8280350" y="3084462"/>
            <a:ext cx="3187500" cy="6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12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Déployée opérationnellement à travers le monde pour l'évaluation de potentiel d'ouverture de lignes, l'analyse tarifaire et la stratégie de réseau.</a:t>
            </a:r>
            <a:endParaRPr/>
          </a:p>
        </p:txBody>
      </p:sp>
      <p:pic>
        <p:nvPicPr>
          <p:cNvPr descr="image.png" id="137" name="Google Shape;137;g3f667f0c552_0_118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1604813" y="2193119"/>
            <a:ext cx="600075" cy="4000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8" name="Google Shape;138;g3f667f0c552_0_118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2347763" y="2134836"/>
            <a:ext cx="682823" cy="3999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9" name="Google Shape;139;g3f667f0c552_0_118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5872460" y="2193119"/>
            <a:ext cx="446782" cy="399901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g3f667f0c552_0_118"/>
          <p:cNvSpPr txBox="1"/>
          <p:nvPr/>
        </p:nvSpPr>
        <p:spPr>
          <a:xfrm>
            <a:off x="1366425" y="5291800"/>
            <a:ext cx="2800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Déjà appliqué par tout l’écosystème</a:t>
            </a:r>
            <a:endParaRPr/>
          </a:p>
        </p:txBody>
      </p:sp>
      <p:sp>
        <p:nvSpPr>
          <p:cNvPr id="141" name="Google Shape;141;g3f667f0c552_0_118"/>
          <p:cNvSpPr txBox="1"/>
          <p:nvPr/>
        </p:nvSpPr>
        <p:spPr>
          <a:xfrm>
            <a:off x="981075" y="5530304"/>
            <a:ext cx="3067200" cy="5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37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Partagée par l'ensemble des maillons de la chaîne (avions, aéroports, lignes), garantissant une vision alignée du marché.</a:t>
            </a:r>
            <a:endParaRPr/>
          </a:p>
        </p:txBody>
      </p:sp>
      <p:sp>
        <p:nvSpPr>
          <p:cNvPr id="142" name="Google Shape;142;g3f667f0c552_0_118"/>
          <p:cNvSpPr txBox="1"/>
          <p:nvPr/>
        </p:nvSpPr>
        <p:spPr>
          <a:xfrm>
            <a:off x="4868031" y="5273125"/>
            <a:ext cx="2800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Méthode validée </a:t>
            </a:r>
            <a:endParaRPr/>
          </a:p>
        </p:txBody>
      </p:sp>
      <p:sp>
        <p:nvSpPr>
          <p:cNvPr id="143" name="Google Shape;143;g3f667f0c552_0_118"/>
          <p:cNvSpPr txBox="1"/>
          <p:nvPr/>
        </p:nvSpPr>
        <p:spPr>
          <a:xfrm>
            <a:off x="4562475" y="5530304"/>
            <a:ext cx="3067200" cy="5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37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Validation empirique continue sur des décennies de données de trafic réel face aux évolutions macroéconomiques.</a:t>
            </a:r>
            <a:endParaRPr/>
          </a:p>
        </p:txBody>
      </p:sp>
      <p:sp>
        <p:nvSpPr>
          <p:cNvPr id="144" name="Google Shape;144;g3f667f0c552_0_118"/>
          <p:cNvSpPr txBox="1"/>
          <p:nvPr/>
        </p:nvSpPr>
        <p:spPr>
          <a:xfrm>
            <a:off x="8449281" y="5291799"/>
            <a:ext cx="2800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Outil d’a</a:t>
            </a:r>
            <a:r>
              <a:rPr b="1" i="0" lang="en-US" sz="120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ide à la décision</a:t>
            </a:r>
            <a:endParaRPr/>
          </a:p>
        </p:txBody>
      </p:sp>
      <p:sp>
        <p:nvSpPr>
          <p:cNvPr id="145" name="Google Shape;145;g3f667f0c552_0_118"/>
          <p:cNvSpPr txBox="1"/>
          <p:nvPr/>
        </p:nvSpPr>
        <p:spPr>
          <a:xfrm>
            <a:off x="8143875" y="5530304"/>
            <a:ext cx="3067200" cy="5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37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Un outil d'aide à la décision stratégique indispensable pour sécuriser les investissements lourds de l'aéronautique.</a:t>
            </a:r>
            <a:endParaRPr/>
          </a:p>
        </p:txBody>
      </p:sp>
      <p:pic>
        <p:nvPicPr>
          <p:cNvPr descr="image.png" id="146" name="Google Shape;146;g3f667f0c552_0_118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981075" y="5273129"/>
            <a:ext cx="23812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7" name="Google Shape;147;g3f667f0c552_0_118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4562475" y="5273129"/>
            <a:ext cx="26670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8" name="Google Shape;148;g3f667f0c552_0_118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8143875" y="5273129"/>
            <a:ext cx="266700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g3f667f0c552_0_118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5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02  ·  MÉTHODE KENZA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5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lang="en-US" sz="2700">
                <a:solidFill>
                  <a:srgbClr val="17324D"/>
                </a:solidFill>
              </a:rPr>
              <a:t>Fondements de la méthode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5"/>
          <p:cNvSpPr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500"/>
              <a:buFont typeface="Calibri"/>
              <a:buNone/>
            </a:pPr>
            <a:r>
              <a:rPr b="0" i="0" lang="en-US" sz="140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Développée par Daniel Sallier (Aéroports de Paris, Airbus).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5"/>
          <p:cNvSpPr/>
          <p:nvPr/>
        </p:nvSpPr>
        <p:spPr>
          <a:xfrm>
            <a:off x="457200" y="1554480"/>
            <a:ext cx="3657600" cy="1645920"/>
          </a:xfrm>
          <a:prstGeom prst="roundRect">
            <a:avLst>
              <a:gd fmla="val 5556" name="adj"/>
            </a:avLst>
          </a:prstGeom>
          <a:solidFill>
            <a:srgbClr val="EDF4F7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5"/>
          <p:cNvSpPr/>
          <p:nvPr/>
        </p:nvSpPr>
        <p:spPr>
          <a:xfrm>
            <a:off x="640080" y="1737360"/>
            <a:ext cx="3291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2400"/>
              <a:buFont typeface="Arial"/>
              <a:buNone/>
            </a:pPr>
            <a:r>
              <a:rPr b="1" i="0" lang="en-US" sz="23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P(t)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5"/>
          <p:cNvSpPr/>
          <p:nvPr/>
        </p:nvSpPr>
        <p:spPr>
          <a:xfrm>
            <a:off x="640080" y="2240280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Population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5"/>
          <p:cNvSpPr/>
          <p:nvPr/>
        </p:nvSpPr>
        <p:spPr>
          <a:xfrm>
            <a:off x="640080" y="2651760"/>
            <a:ext cx="3291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Taille du marché 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5"/>
          <p:cNvSpPr/>
          <p:nvPr/>
        </p:nvSpPr>
        <p:spPr>
          <a:xfrm>
            <a:off x="4297680" y="1554480"/>
            <a:ext cx="3657600" cy="1645920"/>
          </a:xfrm>
          <a:prstGeom prst="roundRect">
            <a:avLst>
              <a:gd fmla="val 5556" name="adj"/>
            </a:avLst>
          </a:prstGeom>
          <a:solidFill>
            <a:srgbClr val="EDF4F7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5"/>
          <p:cNvSpPr/>
          <p:nvPr/>
        </p:nvSpPr>
        <p:spPr>
          <a:xfrm>
            <a:off x="4480560" y="1737360"/>
            <a:ext cx="3291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2400"/>
              <a:buFont typeface="Arial"/>
              <a:buNone/>
            </a:pPr>
            <a:r>
              <a:rPr b="1" i="0" lang="en-US" sz="23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Y(t)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5"/>
          <p:cNvSpPr/>
          <p:nvPr/>
        </p:nvSpPr>
        <p:spPr>
          <a:xfrm>
            <a:off x="4480560" y="2240280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Revenu / PIB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5"/>
          <p:cNvSpPr/>
          <p:nvPr/>
        </p:nvSpPr>
        <p:spPr>
          <a:xfrm>
            <a:off x="4480560" y="2651760"/>
            <a:ext cx="3291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Capacité d'achat par habitant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5"/>
          <p:cNvSpPr/>
          <p:nvPr/>
        </p:nvSpPr>
        <p:spPr>
          <a:xfrm>
            <a:off x="8138160" y="1554480"/>
            <a:ext cx="3657600" cy="1645920"/>
          </a:xfrm>
          <a:prstGeom prst="roundRect">
            <a:avLst>
              <a:gd fmla="val 5556" name="adj"/>
            </a:avLst>
          </a:prstGeom>
          <a:solidFill>
            <a:srgbClr val="EDF4F7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5"/>
          <p:cNvSpPr/>
          <p:nvPr/>
        </p:nvSpPr>
        <p:spPr>
          <a:xfrm>
            <a:off x="8321040" y="1737360"/>
            <a:ext cx="3291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2400"/>
              <a:buFont typeface="Arial"/>
              <a:buNone/>
            </a:pPr>
            <a:r>
              <a:rPr b="1" i="0" lang="en-US" sz="23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π(t)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5"/>
          <p:cNvSpPr/>
          <p:nvPr/>
        </p:nvSpPr>
        <p:spPr>
          <a:xfrm>
            <a:off x="8321040" y="2240280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Prix relatif</a:t>
            </a:r>
            <a:r>
              <a:rPr b="1" lang="en-US" sz="1550">
                <a:solidFill>
                  <a:srgbClr val="17324D"/>
                </a:solidFill>
              </a:rP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5"/>
          <p:cNvSpPr/>
          <p:nvPr/>
        </p:nvSpPr>
        <p:spPr>
          <a:xfrm>
            <a:off x="8321040" y="2651760"/>
            <a:ext cx="3291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Prix billet / PIB par habitant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5"/>
          <p:cNvSpPr/>
          <p:nvPr/>
        </p:nvSpPr>
        <p:spPr>
          <a:xfrm>
            <a:off x="457200" y="3474720"/>
            <a:ext cx="11247120" cy="2286000"/>
          </a:xfrm>
          <a:prstGeom prst="roundRect">
            <a:avLst>
              <a:gd fmla="val 4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5"/>
          <p:cNvSpPr/>
          <p:nvPr/>
        </p:nvSpPr>
        <p:spPr>
          <a:xfrm>
            <a:off x="731520" y="365760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400"/>
              <a:buFont typeface="Calibri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Formule fondamentale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5"/>
          <p:cNvSpPr/>
          <p:nvPr/>
        </p:nvSpPr>
        <p:spPr>
          <a:xfrm>
            <a:off x="731520" y="4114800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600"/>
              <a:buFont typeface="Arial"/>
              <a:buNone/>
            </a:pPr>
            <a:r>
              <a:rPr b="1" i="0" lang="en-US" sz="25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D(t)  =  P(t)  ×  K₁  ×  F*(K₂ × π(t))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5"/>
          <p:cNvSpPr/>
          <p:nvPr/>
        </p:nvSpPr>
        <p:spPr>
          <a:xfrm>
            <a:off x="731520" y="4754880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où F* est la fonction de survie des revenus normalisés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Prix relatif très bas → saturation  ·  Prix relatif très élevé → demande nulle</a:t>
            </a:r>
            <a:r>
              <a:rPr lang="en-US" sz="1350">
                <a:solidFill>
                  <a:srgbClr val="2F3A44"/>
                </a:solidFill>
              </a:rPr>
              <a:t/>
            </a: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r>
              <a:rPr lang="en-US" sz="1350">
                <a:solidFill>
                  <a:srgbClr val="2F3A44"/>
                </a:solidFill>
              </a:rPr>
              <a:t/>
            </a: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1350" u="none" cap="none" strike="noStrike">
              <a:solidFill>
                <a:srgbClr val="2F3A4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lang="en-US" sz="1350">
                <a:solidFill>
                  <a:srgbClr val="2F3A44"/>
                </a:solidFill>
              </a:rPr>
              <a:t>K₁ : constante agrégée, multiplicateur de la population (0,8193)</a:t>
            </a:r>
            <a:r>
              <a:rPr baseline="-25000" lang="en-US" sz="1350">
                <a:solidFill>
                  <a:srgbClr val="2F3A44"/>
                </a:solidFill>
              </a:rPr>
              <a:t/>
            </a:r>
            <a:r>
              <a:rPr lang="en-US" sz="1350">
                <a:solidFill>
                  <a:srgbClr val="2F3A44"/>
                </a:solidFill>
              </a:rPr>
              <a:t/>
            </a:r>
            <a:endParaRPr sz="1350">
              <a:solidFill>
                <a:srgbClr val="2F3A44"/>
              </a:solidFill>
            </a:endParaRPr>
          </a:p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lang="en-US" sz="1350">
                <a:solidFill>
                  <a:srgbClr val="2F3A44"/>
                </a:solidFill>
              </a:rPr>
              <a:t>K₂ : facteur d'échelle du prix normalisé (30)</a:t>
            </a:r>
            <a:r>
              <a:rPr baseline="-25000" lang="en-US" sz="1350">
                <a:solidFill>
                  <a:srgbClr val="2F3A44"/>
                </a:solidFill>
              </a:rPr>
              <a:t/>
            </a:r>
            <a:r>
              <a:rPr lang="en-US" sz="1350">
                <a:solidFill>
                  <a:srgbClr val="2F3A44"/>
                </a:solidFill>
              </a:rPr>
              <a:t/>
            </a:r>
            <a:endParaRPr sz="1350">
              <a:solidFill>
                <a:srgbClr val="2F3A44"/>
              </a:solidFill>
            </a:endParaRPr>
          </a:p>
        </p:txBody>
      </p:sp>
      <p:sp>
        <p:nvSpPr>
          <p:cNvPr id="174" name="Google Shape;174;p5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6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02  ·  MÉTHODE KENZA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6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Formes mathématiques utilisées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6"/>
          <p:cNvSpPr/>
          <p:nvPr/>
        </p:nvSpPr>
        <p:spPr>
          <a:xfrm>
            <a:off x="472438" y="1954988"/>
            <a:ext cx="5486400" cy="2926200"/>
          </a:xfrm>
          <a:prstGeom prst="roundRect">
            <a:avLst>
              <a:gd fmla="val 3125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6"/>
          <p:cNvSpPr/>
          <p:nvPr/>
        </p:nvSpPr>
        <p:spPr>
          <a:xfrm>
            <a:off x="701038" y="2137868"/>
            <a:ext cx="5029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Distribution des revenus (Coste)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6"/>
          <p:cNvSpPr/>
          <p:nvPr/>
        </p:nvSpPr>
        <p:spPr>
          <a:xfrm>
            <a:off x="701038" y="3372307"/>
            <a:ext cx="5029200" cy="128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avec a &gt; 0, b &gt; 0, c &lt; 0, d &gt; 0 ; F* est bornée à [0;1] (a = 1,1572 en référence)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Prix normalisé :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π(t) = scale × Prix_billet(t) / PIB_per_capita(t)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6"/>
          <p:cNvSpPr/>
          <p:nvPr/>
        </p:nvSpPr>
        <p:spPr>
          <a:xfrm>
            <a:off x="6233158" y="1954988"/>
            <a:ext cx="5486400" cy="2926200"/>
          </a:xfrm>
          <a:prstGeom prst="roundRect">
            <a:avLst>
              <a:gd fmla="val 3125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6"/>
          <p:cNvSpPr/>
          <p:nvPr/>
        </p:nvSpPr>
        <p:spPr>
          <a:xfrm>
            <a:off x="6461758" y="2137868"/>
            <a:ext cx="5029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Variantes implémentées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6"/>
          <p:cNvSpPr/>
          <p:nvPr/>
        </p:nvSpPr>
        <p:spPr>
          <a:xfrm>
            <a:off x="6461758" y="2640788"/>
            <a:ext cx="50292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▸  Kenza complet · Kenza simplifié</a:t>
            </a: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6"/>
          <p:cNvSpPr/>
          <p:nvPr/>
        </p:nvSpPr>
        <p:spPr>
          <a:xfrm>
            <a:off x="6461758" y="2960828"/>
            <a:ext cx="50292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▸  Kenza simplifié combiné · Kenza simplifié indexé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6"/>
          <p:cNvSpPr/>
          <p:nvPr/>
        </p:nvSpPr>
        <p:spPr>
          <a:xfrm>
            <a:off x="6461758" y="3280868"/>
            <a:ext cx="50292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▸  Kenza indexé      (probabiliste : non disponible)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0" name="Google Shape;190;p6" title="CodeCogsEqn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97200" y="2617938"/>
            <a:ext cx="4436880" cy="640075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6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7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03  ·  AVANTAGES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7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Pourquoi la méthode Kenza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7"/>
          <p:cNvSpPr/>
          <p:nvPr/>
        </p:nvSpPr>
        <p:spPr>
          <a:xfrm>
            <a:off x="457200" y="1188720"/>
            <a:ext cx="3657600" cy="2011680"/>
          </a:xfrm>
          <a:prstGeom prst="roundRect">
            <a:avLst>
              <a:gd fmla="val 4545" name="adj"/>
            </a:avLst>
          </a:prstGeom>
          <a:solidFill>
            <a:srgbClr val="FFFFFF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7"/>
          <p:cNvSpPr/>
          <p:nvPr/>
        </p:nvSpPr>
        <p:spPr>
          <a:xfrm>
            <a:off x="685800" y="146304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Interprétabilité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7"/>
          <p:cNvSpPr/>
          <p:nvPr/>
        </p:nvSpPr>
        <p:spPr>
          <a:xfrm>
            <a:off x="685800" y="2011680"/>
            <a:ext cx="3200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Chaque paramètre (élasticité-revenu, élasticité-prix) a un sens économique clair et défendable.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7"/>
          <p:cNvSpPr/>
          <p:nvPr/>
        </p:nvSpPr>
        <p:spPr>
          <a:xfrm>
            <a:off x="4297680" y="1188720"/>
            <a:ext cx="3657600" cy="2011680"/>
          </a:xfrm>
          <a:prstGeom prst="roundRect">
            <a:avLst>
              <a:gd fmla="val 4545" name="adj"/>
            </a:avLst>
          </a:prstGeom>
          <a:solidFill>
            <a:srgbClr val="FFFFFF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7"/>
          <p:cNvSpPr/>
          <p:nvPr/>
        </p:nvSpPr>
        <p:spPr>
          <a:xfrm>
            <a:off x="4526280" y="146304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Transparence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7"/>
          <p:cNvSpPr/>
          <p:nvPr/>
        </p:nvSpPr>
        <p:spPr>
          <a:xfrm>
            <a:off x="4526280" y="2011680"/>
            <a:ext cx="3200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Hypothèses explicites ; on peut tracer l'influence de chaque variable sur le résultat.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7"/>
          <p:cNvSpPr/>
          <p:nvPr/>
        </p:nvSpPr>
        <p:spPr>
          <a:xfrm>
            <a:off x="8138160" y="1188720"/>
            <a:ext cx="3657600" cy="2011680"/>
          </a:xfrm>
          <a:prstGeom prst="roundRect">
            <a:avLst>
              <a:gd fmla="val 4545" name="adj"/>
            </a:avLst>
          </a:prstGeom>
          <a:solidFill>
            <a:srgbClr val="FFFFFF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7"/>
          <p:cNvSpPr/>
          <p:nvPr/>
        </p:nvSpPr>
        <p:spPr>
          <a:xfrm>
            <a:off x="8366760" y="146304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Flexibilité scénarique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7"/>
          <p:cNvSpPr/>
          <p:nvPr/>
        </p:nvSpPr>
        <p:spPr>
          <a:xfrm>
            <a:off x="8366760" y="2011680"/>
            <a:ext cx="3200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Modifications aisées de croissance PIB, population, prix, chocs, contraintes de capacité.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7"/>
          <p:cNvSpPr/>
          <p:nvPr/>
        </p:nvSpPr>
        <p:spPr>
          <a:xfrm>
            <a:off x="457200" y="3474720"/>
            <a:ext cx="3657600" cy="2011680"/>
          </a:xfrm>
          <a:prstGeom prst="roundRect">
            <a:avLst>
              <a:gd fmla="val 4545" name="adj"/>
            </a:avLst>
          </a:prstGeom>
          <a:solidFill>
            <a:srgbClr val="FFFFFF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7"/>
          <p:cNvSpPr/>
          <p:nvPr/>
        </p:nvSpPr>
        <p:spPr>
          <a:xfrm>
            <a:off x="685800" y="374904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Adaptation long terme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7"/>
          <p:cNvSpPr/>
          <p:nvPr/>
        </p:nvSpPr>
        <p:spPr>
          <a:xfrm>
            <a:off x="685800" y="4297680"/>
            <a:ext cx="3200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Structure stable des distributions de revenus ; élasticités issues du modèle, pas d'extrapolation pure.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7"/>
          <p:cNvSpPr/>
          <p:nvPr/>
        </p:nvSpPr>
        <p:spPr>
          <a:xfrm>
            <a:off x="4297680" y="3474720"/>
            <a:ext cx="3657600" cy="2011680"/>
          </a:xfrm>
          <a:prstGeom prst="roundRect">
            <a:avLst>
              <a:gd fmla="val 4545" name="adj"/>
            </a:avLst>
          </a:prstGeom>
          <a:solidFill>
            <a:srgbClr val="FFFFFF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7"/>
          <p:cNvSpPr/>
          <p:nvPr/>
        </p:nvSpPr>
        <p:spPr>
          <a:xfrm>
            <a:off x="4526280" y="374904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Reconnue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7"/>
          <p:cNvSpPr/>
          <p:nvPr/>
        </p:nvSpPr>
        <p:spPr>
          <a:xfrm>
            <a:off x="4526280" y="4297680"/>
            <a:ext cx="3200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Validée sur données réelles (ADP</a:t>
            </a:r>
            <a:r>
              <a:rPr lang="en-US">
                <a:solidFill>
                  <a:srgbClr val="2F3A44"/>
                </a:solidFill>
              </a:rPr>
              <a:t>, Bombardier) et nombreuses applications dans le domaine aéronautiques (aéroports, constructeurs, compagnies aériennes)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7"/>
          <p:cNvSpPr/>
          <p:nvPr/>
        </p:nvSpPr>
        <p:spPr>
          <a:xfrm>
            <a:off x="8138160" y="3474720"/>
            <a:ext cx="3657600" cy="2011680"/>
          </a:xfrm>
          <a:prstGeom prst="roundRect">
            <a:avLst>
              <a:gd fmla="val 4545" name="adj"/>
            </a:avLst>
          </a:prstGeom>
          <a:solidFill>
            <a:srgbClr val="FFFFFF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7"/>
          <p:cNvSpPr/>
          <p:nvPr/>
        </p:nvSpPr>
        <p:spPr>
          <a:xfrm>
            <a:off x="8366760" y="374904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Extensible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7"/>
          <p:cNvSpPr/>
          <p:nvPr/>
        </p:nvSpPr>
        <p:spPr>
          <a:xfrm>
            <a:off x="8366760" y="4297680"/>
            <a:ext cx="3200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Intégration possible de contraintes de capacité (mouvements, surface terminale, slots).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7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8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04  ·  DONNÉES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8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Données nécessaires au modèle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8"/>
          <p:cNvSpPr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solidFill>
            <a:srgbClr val="E5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8"/>
          <p:cNvSpPr/>
          <p:nvPr/>
        </p:nvSpPr>
        <p:spPr>
          <a:xfrm>
            <a:off x="457200" y="1188720"/>
            <a:ext cx="29260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3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Colonne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8"/>
          <p:cNvSpPr/>
          <p:nvPr/>
        </p:nvSpPr>
        <p:spPr>
          <a:xfrm>
            <a:off x="3383280" y="118872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3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Description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8"/>
          <p:cNvSpPr/>
          <p:nvPr/>
        </p:nvSpPr>
        <p:spPr>
          <a:xfrm>
            <a:off x="8412480" y="1188720"/>
            <a:ext cx="3291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3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Exemple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8"/>
          <p:cNvSpPr/>
          <p:nvPr/>
        </p:nvSpPr>
        <p:spPr>
          <a:xfrm>
            <a:off x="457200" y="1600200"/>
            <a:ext cx="11247120" cy="502920"/>
          </a:xfrm>
          <a:prstGeom prst="rect">
            <a:avLst/>
          </a:prstGeom>
          <a:solidFill>
            <a:srgbClr val="F7F9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8"/>
          <p:cNvSpPr/>
          <p:nvPr/>
        </p:nvSpPr>
        <p:spPr>
          <a:xfrm>
            <a:off x="457200" y="1600200"/>
            <a:ext cx="2926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year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8"/>
          <p:cNvSpPr/>
          <p:nvPr/>
        </p:nvSpPr>
        <p:spPr>
          <a:xfrm>
            <a:off x="3383280" y="1600200"/>
            <a:ext cx="5029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Année (entier)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8"/>
          <p:cNvSpPr/>
          <p:nvPr/>
        </p:nvSpPr>
        <p:spPr>
          <a:xfrm>
            <a:off x="8412480" y="1600200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1990, 1991, …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8"/>
          <p:cNvSpPr/>
          <p:nvPr/>
        </p:nvSpPr>
        <p:spPr>
          <a:xfrm>
            <a:off x="457200" y="2103120"/>
            <a:ext cx="112471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8"/>
          <p:cNvSpPr/>
          <p:nvPr/>
        </p:nvSpPr>
        <p:spPr>
          <a:xfrm>
            <a:off x="457200" y="2103120"/>
            <a:ext cx="2926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actual_passengers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8"/>
          <p:cNvSpPr/>
          <p:nvPr/>
        </p:nvSpPr>
        <p:spPr>
          <a:xfrm>
            <a:off x="3383280" y="2103120"/>
            <a:ext cx="5029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Trafic annuel total (passagers)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8"/>
          <p:cNvSpPr/>
          <p:nvPr/>
        </p:nvSpPr>
        <p:spPr>
          <a:xfrm>
            <a:off x="8412480" y="2103120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31 000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8"/>
          <p:cNvSpPr/>
          <p:nvPr/>
        </p:nvSpPr>
        <p:spPr>
          <a:xfrm>
            <a:off x="457200" y="2606040"/>
            <a:ext cx="11247120" cy="502920"/>
          </a:xfrm>
          <a:prstGeom prst="rect">
            <a:avLst/>
          </a:prstGeom>
          <a:solidFill>
            <a:srgbClr val="F7F9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8"/>
          <p:cNvSpPr/>
          <p:nvPr/>
        </p:nvSpPr>
        <p:spPr>
          <a:xfrm>
            <a:off x="457200" y="2606040"/>
            <a:ext cx="2926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population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8"/>
          <p:cNvSpPr/>
          <p:nvPr/>
        </p:nvSpPr>
        <p:spPr>
          <a:xfrm>
            <a:off x="3383280" y="2606040"/>
            <a:ext cx="5029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Population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8"/>
          <p:cNvSpPr/>
          <p:nvPr/>
        </p:nvSpPr>
        <p:spPr>
          <a:xfrm>
            <a:off x="8412480" y="2606040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6 996 986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8"/>
          <p:cNvSpPr/>
          <p:nvPr/>
        </p:nvSpPr>
        <p:spPr>
          <a:xfrm>
            <a:off x="457200" y="3108960"/>
            <a:ext cx="112471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8"/>
          <p:cNvSpPr/>
          <p:nvPr/>
        </p:nvSpPr>
        <p:spPr>
          <a:xfrm>
            <a:off x="457200" y="3108960"/>
            <a:ext cx="2926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gdp_per_capita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8"/>
          <p:cNvSpPr/>
          <p:nvPr/>
        </p:nvSpPr>
        <p:spPr>
          <a:xfrm>
            <a:off x="3383280" y="3108960"/>
            <a:ext cx="5029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PIB par habitant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8"/>
          <p:cNvSpPr/>
          <p:nvPr/>
        </p:nvSpPr>
        <p:spPr>
          <a:xfrm>
            <a:off x="8412480" y="3108960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28 636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8"/>
          <p:cNvSpPr/>
          <p:nvPr/>
        </p:nvSpPr>
        <p:spPr>
          <a:xfrm>
            <a:off x="457200" y="3611880"/>
            <a:ext cx="11247120" cy="502920"/>
          </a:xfrm>
          <a:prstGeom prst="rect">
            <a:avLst/>
          </a:prstGeom>
          <a:solidFill>
            <a:srgbClr val="F7F9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8"/>
          <p:cNvSpPr/>
          <p:nvPr/>
        </p:nvSpPr>
        <p:spPr>
          <a:xfrm>
            <a:off x="457200" y="3611880"/>
            <a:ext cx="2926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ticket_price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8"/>
          <p:cNvSpPr/>
          <p:nvPr/>
        </p:nvSpPr>
        <p:spPr>
          <a:xfrm>
            <a:off x="3383280" y="3611880"/>
            <a:ext cx="5029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Prix moyen du billet (requis, sauf variantes indexées)</a:t>
            </a:r>
            <a:r>
              <a:rPr lang="en-US" sz="1280">
                <a:solidFill>
                  <a:srgbClr val="2F3A44"/>
                </a:solidFill>
              </a:rPr>
              <a:t/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8"/>
          <p:cNvSpPr/>
          <p:nvPr/>
        </p:nvSpPr>
        <p:spPr>
          <a:xfrm>
            <a:off x="8412480" y="3611880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185,00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8"/>
          <p:cNvSpPr/>
          <p:nvPr/>
        </p:nvSpPr>
        <p:spPr>
          <a:xfrm>
            <a:off x="457200" y="429768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1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Remarques : période idéale ≥ 20 ans 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8"/>
          <p:cNvSpPr/>
          <p:nvPr/>
        </p:nvSpPr>
        <p:spPr>
          <a:xfrm>
            <a:off x="457200" y="4846320"/>
            <a:ext cx="11247120" cy="1097280"/>
          </a:xfrm>
          <a:prstGeom prst="roundRect">
            <a:avLst>
              <a:gd fmla="val 6667" name="adj"/>
            </a:avLst>
          </a:prstGeom>
          <a:solidFill>
            <a:srgbClr val="EDF4F7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8"/>
          <p:cNvSpPr/>
          <p:nvPr/>
        </p:nvSpPr>
        <p:spPr>
          <a:xfrm>
            <a:off x="731520" y="5029200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Format recommandé : CSV ou Excel avec colonnes exactes ci-dessus. Segmentation (domestique /  frontalier / international ) fortement souhaitable pour un calibrage plus fin.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8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9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05  ·  IMPLÉMENTATION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9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État de l'outil 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9"/>
          <p:cNvSpPr/>
          <p:nvPr/>
        </p:nvSpPr>
        <p:spPr>
          <a:xfrm>
            <a:off x="457200" y="1143000"/>
            <a:ext cx="5486400" cy="1188720"/>
          </a:xfrm>
          <a:prstGeom prst="roundRect">
            <a:avLst>
              <a:gd fmla="val 615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9"/>
          <p:cNvSpPr/>
          <p:nvPr/>
        </p:nvSpPr>
        <p:spPr>
          <a:xfrm>
            <a:off x="777240" y="1325880"/>
            <a:ext cx="4937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Gestion des données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9"/>
          <p:cNvSpPr/>
          <p:nvPr/>
        </p:nvSpPr>
        <p:spPr>
          <a:xfrm>
            <a:off x="777240" y="1737360"/>
            <a:ext cx="4937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Chargement CSV/Excel, normalisation, validation des colonnes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9"/>
          <p:cNvSpPr/>
          <p:nvPr/>
        </p:nvSpPr>
        <p:spPr>
          <a:xfrm>
            <a:off x="6217920" y="1143000"/>
            <a:ext cx="5486400" cy="1188720"/>
          </a:xfrm>
          <a:prstGeom prst="roundRect">
            <a:avLst>
              <a:gd fmla="val 615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9"/>
          <p:cNvSpPr/>
          <p:nvPr/>
        </p:nvSpPr>
        <p:spPr>
          <a:xfrm>
            <a:off x="6537960" y="1325880"/>
            <a:ext cx="4937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Choix du modèle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9"/>
          <p:cNvSpPr/>
          <p:nvPr/>
        </p:nvSpPr>
        <p:spPr>
          <a:xfrm>
            <a:off x="6537960" y="1737360"/>
            <a:ext cx="4937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Gestion des variantes Kenza via métadonnées JSON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9"/>
          <p:cNvSpPr/>
          <p:nvPr/>
        </p:nvSpPr>
        <p:spPr>
          <a:xfrm>
            <a:off x="457200" y="2514600"/>
            <a:ext cx="5486400" cy="1188720"/>
          </a:xfrm>
          <a:prstGeom prst="roundRect">
            <a:avLst>
              <a:gd fmla="val 615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9"/>
          <p:cNvSpPr/>
          <p:nvPr/>
        </p:nvSpPr>
        <p:spPr>
          <a:xfrm>
            <a:off x="777240" y="2697480"/>
            <a:ext cx="4937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Calculs et prévisions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9"/>
          <p:cNvSpPr/>
          <p:nvPr/>
        </p:nvSpPr>
        <p:spPr>
          <a:xfrm>
            <a:off x="777240" y="3108960"/>
            <a:ext cx="4937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Calibration, prévisions, et calculs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9"/>
          <p:cNvSpPr/>
          <p:nvPr/>
        </p:nvSpPr>
        <p:spPr>
          <a:xfrm>
            <a:off x="6217920" y="2514600"/>
            <a:ext cx="5486400" cy="1188720"/>
          </a:xfrm>
          <a:prstGeom prst="roundRect">
            <a:avLst>
              <a:gd fmla="val 615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9"/>
          <p:cNvSpPr/>
          <p:nvPr/>
        </p:nvSpPr>
        <p:spPr>
          <a:xfrm>
            <a:off x="6537960" y="2697480"/>
            <a:ext cx="4937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Exports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9"/>
          <p:cNvSpPr/>
          <p:nvPr/>
        </p:nvSpPr>
        <p:spPr>
          <a:xfrm>
            <a:off x="6537960" y="3108960"/>
            <a:ext cx="4937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Tableau de prévision en CSV ou Excel ; graphique en PDF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9"/>
          <p:cNvSpPr/>
          <p:nvPr/>
        </p:nvSpPr>
        <p:spPr>
          <a:xfrm>
            <a:off x="457200" y="4114800"/>
            <a:ext cx="11247120" cy="1737360"/>
          </a:xfrm>
          <a:prstGeom prst="roundRect">
            <a:avLst>
              <a:gd fmla="val 5263" name="adj"/>
            </a:avLst>
          </a:prstGeom>
          <a:solidFill>
            <a:srgbClr val="EDF4F7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9"/>
          <p:cNvSpPr/>
          <p:nvPr/>
        </p:nvSpPr>
        <p:spPr>
          <a:xfrm>
            <a:off x="731520" y="429768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5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Stack technique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9"/>
          <p:cNvSpPr/>
          <p:nvPr/>
        </p:nvSpPr>
        <p:spPr>
          <a:xfrm>
            <a:off x="731520" y="4754880"/>
            <a:ext cx="106984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Langage : Julia 1.10+ (haute performance scientifique)   ·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État : fonctionnel et audité — 253 tests de non-régression ; écart au classeur Excel de 3 à 11 % selon la variante, sauf Kenza indexé (41,7 %, non expliqué à ce jour)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Fonctionnalités : chargement fichiers, sélection modèle, réglage paramètres, graphiques, métriques (RMSE, MAE, MAPE, R²), intervalles de confiance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9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10"/>
          <p:cNvSpPr/>
          <p:nvPr/>
        </p:nvSpPr>
        <p:spPr>
          <a:xfrm>
            <a:off x="457200" y="228600"/>
            <a:ext cx="10972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05  ·  IMPLÉMENTATION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0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Capture 1 : Interface générale</a:t>
            </a:r>
            <a:endParaRPr b="1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0"/>
          <p:cNvSpPr/>
          <p:nvPr/>
        </p:nvSpPr>
        <p:spPr>
          <a:xfrm>
            <a:off x="7818120" y="1234440"/>
            <a:ext cx="3657600" cy="4663440"/>
          </a:xfrm>
          <a:prstGeom prst="roundRect">
            <a:avLst>
              <a:gd fmla="val 5263" name="adj"/>
            </a:avLst>
          </a:prstGeom>
          <a:solidFill>
            <a:srgbClr val="F6F8F9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10"/>
          <p:cNvSpPr/>
          <p:nvPr/>
        </p:nvSpPr>
        <p:spPr>
          <a:xfrm>
            <a:off x="8092440" y="155448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5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Organisation de l'écran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0"/>
          <p:cNvSpPr/>
          <p:nvPr/>
        </p:nvSpPr>
        <p:spPr>
          <a:xfrm>
            <a:off x="8092440" y="2148840"/>
            <a:ext cx="3108960" cy="3337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-31242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3A44"/>
              </a:buClr>
              <a:buSzPts val="1320"/>
              <a:buFont typeface="Arial"/>
              <a:buChar char="●"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Panneau gauche, de haut en bas : chargement du fichier, période d'entraînement, choix du modèle.</a:t>
            </a:r>
            <a:endParaRPr b="0" i="0" sz="1400" u="none" cap="none" strike="noStrike">
              <a:solidFill>
                <a:srgbClr val="F8FAF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2420" lvl="0" marL="457200" marR="508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3A44"/>
              </a:buClr>
              <a:buSzPts val="1320"/>
              <a:buFont typeface="Arial"/>
              <a:buChar char="●"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Puis l'horizon de prévision et les paramètres du modèle, générés d'après ses métadonnées.</a:t>
            </a:r>
            <a:endParaRPr b="0" i="0" sz="1400" u="none" cap="none" strike="noStrike">
              <a:solidFill>
                <a:srgbClr val="F8FAF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242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3A44"/>
              </a:buClr>
              <a:buSzPts val="1320"/>
              <a:buFont typeface="Arial"/>
              <a:buChar char="●"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En bas : « Lancer le modèle » et la barre de statut. Panneau droit : onglets « Modèle unique » et « Comparaison ».</a:t>
            </a:r>
            <a:endParaRPr b="0" i="0" sz="1400" u="none" cap="none" strike="noStrike">
              <a:solidFill>
                <a:srgbClr val="F8FAF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8FAF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6" name="Google Shape;286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9296" y="1188720"/>
            <a:ext cx="6413847" cy="4617720"/>
          </a:xfrm>
          <a:prstGeom prst="rect">
            <a:avLst/>
          </a:prstGeom>
          <a:noFill/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87" name="Google Shape;287;p10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11"/>
          <p:cNvSpPr/>
          <p:nvPr/>
        </p:nvSpPr>
        <p:spPr>
          <a:xfrm>
            <a:off x="457200" y="228600"/>
            <a:ext cx="10972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05  ·  IMPLÉMENTATION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1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Capture 2 : Paramètres du modèle</a:t>
            </a:r>
            <a:endParaRPr b="1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1"/>
          <p:cNvSpPr/>
          <p:nvPr/>
        </p:nvSpPr>
        <p:spPr>
          <a:xfrm>
            <a:off x="7818120" y="1234440"/>
            <a:ext cx="3657600" cy="4663440"/>
          </a:xfrm>
          <a:prstGeom prst="roundRect">
            <a:avLst>
              <a:gd fmla="val 5263" name="adj"/>
            </a:avLst>
          </a:prstGeom>
          <a:solidFill>
            <a:srgbClr val="F6F8F9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2921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b="1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distribution_a :</a:t>
            </a:r>
            <a:r>
              <a:rPr b="0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 Amplitude maximale de la courbe de pénétration du marché.</a:t>
            </a:r>
            <a:endParaRPr b="0" i="0" sz="1220" u="none" cap="none" strike="noStrike">
              <a:solidFill>
                <a:srgbClr val="2F3A4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21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b="1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distribution_b </a:t>
            </a:r>
            <a:r>
              <a:rPr b="0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: Décalage de la courbe de pénétration selon le niveau de richesse.</a:t>
            </a:r>
            <a:endParaRPr b="0" i="0" sz="1220" u="none" cap="none" strike="noStrike">
              <a:solidFill>
                <a:srgbClr val="2F3A4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21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b="1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kenza_k1 : constante agrégée K1 de la loi, multiplicateur de la population.</a:t>
            </a:r>
            <a:r>
              <a:rPr b="0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1220" u="none" cap="none" strike="noStrike">
              <a:solidFill>
                <a:srgbClr val="2F3A4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21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b="1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kenza_k2 : seuil de revenu normalisé K2, échelle du rapport prix du billet / PIB par habitant.</a:t>
            </a:r>
            <a:r>
              <a:rPr b="0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1220" u="none" cap="none" strike="noStrike">
              <a:solidFill>
                <a:srgbClr val="2F3A4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21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b="1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curve_c : coefficient c de la courbe logistique (niveau global).</a:t>
            </a:r>
            <a:r>
              <a:rPr b="0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1220" u="none" cap="none" strike="noStrike">
              <a:solidFill>
                <a:srgbClr val="2F3A4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b="1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curve_d : exposant d du prix normalisé dans la courbe logistique.</a:t>
            </a:r>
            <a:r>
              <a:rPr b="0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r>
              <a:rPr b="0" i="0" lang="en-US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11"/>
          <p:cNvSpPr/>
          <p:nvPr/>
        </p:nvSpPr>
        <p:spPr>
          <a:xfrm>
            <a:off x="8092440" y="1425955"/>
            <a:ext cx="31089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5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Paramètres modifiables — noms actuels ; la capture ci-contre montre les anciens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7" name="Google Shape;29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1425957"/>
            <a:ext cx="6720840" cy="4143245"/>
          </a:xfrm>
          <a:prstGeom prst="rect">
            <a:avLst/>
          </a:prstGeom>
          <a:noFill/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98" name="Google Shape;298;p11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2"/>
          <p:cNvSpPr/>
          <p:nvPr/>
        </p:nvSpPr>
        <p:spPr>
          <a:xfrm>
            <a:off x="457200" y="228600"/>
            <a:ext cx="10972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05  ·  IMPLÉMENTATION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12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Capture 3 : Résultat d’un modèle</a:t>
            </a:r>
            <a:endParaRPr b="1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2"/>
          <p:cNvSpPr/>
          <p:nvPr/>
        </p:nvSpPr>
        <p:spPr>
          <a:xfrm>
            <a:off x="7818125" y="1234450"/>
            <a:ext cx="3876900" cy="4663500"/>
          </a:xfrm>
          <a:prstGeom prst="roundRect">
            <a:avLst>
              <a:gd fmla="val 5263" name="adj"/>
            </a:avLst>
          </a:prstGeom>
          <a:solidFill>
            <a:srgbClr val="F6F8F9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12"/>
          <p:cNvSpPr/>
          <p:nvPr/>
        </p:nvSpPr>
        <p:spPr>
          <a:xfrm>
            <a:off x="8092440" y="155448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5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Métriques recalculées — la capture ci-contre date de la version antérieure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2"/>
          <p:cNvSpPr/>
          <p:nvPr/>
        </p:nvSpPr>
        <p:spPr>
          <a:xfrm>
            <a:off x="7896052" y="2094013"/>
            <a:ext cx="3876900" cy="333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-253365" lvl="0" marL="265430" marR="2454275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20"/>
              <a:buFont typeface="Arial"/>
              <a:buNone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RMSE : 6 024 (hors échantillon, 2012-2019).</a:t>
            </a:r>
            <a:endParaRPr b="0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2563495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20"/>
              <a:buFont typeface="Arial"/>
              <a:buNone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MAE : 4 671.</a:t>
            </a:r>
            <a:endParaRPr b="0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2563495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20"/>
              <a:buFont typeface="Arial"/>
              <a:buNone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MAPE : 5,3 %.</a:t>
            </a:r>
            <a:endParaRPr b="0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20"/>
              <a:buFont typeface="Arial"/>
              <a:buNone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R² hors échantillon : 0,656.</a:t>
            </a:r>
            <a:endParaRPr b="0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12700" marR="508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20"/>
              <a:buFont typeface="Arial"/>
              <a:buNone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Graphique : historique (points) et prévision (courbe), encadrée d'une bande ±20 % — forfait indicatif, non statistique.</a:t>
            </a:r>
            <a:endParaRPr b="0" i="0" sz="10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9" name="Google Shape;309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1303455"/>
            <a:ext cx="6720840" cy="4388249"/>
          </a:xfrm>
          <a:prstGeom prst="rect">
            <a:avLst/>
          </a:prstGeom>
          <a:noFill/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310" name="Google Shape;310;p12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13"/>
          <p:cNvSpPr/>
          <p:nvPr/>
        </p:nvSpPr>
        <p:spPr>
          <a:xfrm>
            <a:off x="457200" y="228600"/>
            <a:ext cx="10972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05  ·  IMPLÉMENTATION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13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Capture 4 : Comparaison des modèles</a:t>
            </a:r>
            <a:endParaRPr b="1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3"/>
          <p:cNvSpPr/>
          <p:nvPr/>
        </p:nvSpPr>
        <p:spPr>
          <a:xfrm>
            <a:off x="7818120" y="1234440"/>
            <a:ext cx="3657600" cy="4663440"/>
          </a:xfrm>
          <a:prstGeom prst="roundRect">
            <a:avLst>
              <a:gd fmla="val 5263" name="adj"/>
            </a:avLst>
          </a:prstGeom>
          <a:solidFill>
            <a:srgbClr val="F6F8F9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13"/>
          <p:cNvSpPr/>
          <p:nvPr/>
        </p:nvSpPr>
        <p:spPr>
          <a:xfrm>
            <a:off x="8092440" y="155448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5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Nature de la bande affichée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3"/>
          <p:cNvSpPr/>
          <p:nvPr/>
        </p:nvSpPr>
        <p:spPr>
          <a:xfrm>
            <a:off x="8092475" y="2781363"/>
            <a:ext cx="3108900" cy="156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3048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6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861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3A44"/>
              </a:buClr>
              <a:buSzPts val="1260"/>
              <a:buFont typeface="Arial"/>
              <a:buChar char="●"/>
            </a:pPr>
            <a:r>
              <a:rPr b="0" i="0" lang="en-US" sz="126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Exemple 2030 : centrale 96 982, bande [77 585 ; 116 378] — soit exactement ±20 %, largeur fixée d'avance.</a:t>
            </a:r>
            <a:endParaRPr b="0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8610" lvl="0" marL="457200" marR="508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3A44"/>
              </a:buClr>
              <a:buSzPts val="1260"/>
              <a:buFont typeface="Arial"/>
              <a:buChar char="●"/>
            </a:pPr>
            <a:r>
              <a:rPr b="0" i="0" lang="en-US" sz="126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La bande ne mesure pas l'incertitude : sa largeur ne dépend ni des données ni de la qualité de l'ajustement. Scénarios « bas » et</a:t>
            </a:r>
            <a:endParaRPr b="0" i="0" sz="1260" u="none" cap="none" strike="noStrike">
              <a:solidFill>
                <a:srgbClr val="2F3A4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508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60"/>
              <a:buFont typeface="Arial"/>
              <a:buNone/>
            </a:pPr>
            <a:r>
              <a:rPr b="0" i="0" lang="en-US" sz="126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« haut » basés sur des hypothèses économiques : à déterminer.</a:t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21" name="Google Shape;321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1005" y="1188720"/>
            <a:ext cx="6610429" cy="4617720"/>
          </a:xfrm>
          <a:prstGeom prst="rect">
            <a:avLst/>
          </a:prstGeom>
          <a:noFill/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322" name="Google Shape;322;p13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14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06  ·  RÉSULTATS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14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Résultats sur données de test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4"/>
          <p:cNvSpPr/>
          <p:nvPr/>
        </p:nvSpPr>
        <p:spPr>
          <a:xfrm>
            <a:off x="457200" y="1051560"/>
            <a:ext cx="11247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2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Jeu d'exemple : sample.csv (série synthétique)   ·   Modèle : Kenza indexé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14"/>
          <p:cNvSpPr/>
          <p:nvPr/>
        </p:nvSpPr>
        <p:spPr>
          <a:xfrm>
            <a:off x="457200" y="1554480"/>
            <a:ext cx="2743200" cy="1463040"/>
          </a:xfrm>
          <a:prstGeom prst="roundRect">
            <a:avLst>
              <a:gd fmla="val 625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2" name="Google Shape;332;p14"/>
          <p:cNvSpPr/>
          <p:nvPr/>
        </p:nvSpPr>
        <p:spPr>
          <a:xfrm>
            <a:off x="594360" y="1737360"/>
            <a:ext cx="24688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800"/>
              <a:buFont typeface="Arial"/>
              <a:buNone/>
            </a:pPr>
            <a:r>
              <a:rPr b="1" i="0" lang="en-US" sz="30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6 024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14"/>
          <p:cNvSpPr/>
          <p:nvPr/>
        </p:nvSpPr>
        <p:spPr>
          <a:xfrm>
            <a:off x="594360" y="2468880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RMSE (passagers)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4"/>
          <p:cNvSpPr/>
          <p:nvPr/>
        </p:nvSpPr>
        <p:spPr>
          <a:xfrm>
            <a:off x="3383280" y="1554480"/>
            <a:ext cx="2743200" cy="1463040"/>
          </a:xfrm>
          <a:prstGeom prst="roundRect">
            <a:avLst>
              <a:gd fmla="val 625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14"/>
          <p:cNvSpPr/>
          <p:nvPr/>
        </p:nvSpPr>
        <p:spPr>
          <a:xfrm>
            <a:off x="3520440" y="1737360"/>
            <a:ext cx="24688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800"/>
              <a:buFont typeface="Arial"/>
              <a:buNone/>
            </a:pPr>
            <a:r>
              <a:rPr b="1" i="0" lang="en-US" sz="30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4 671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4"/>
          <p:cNvSpPr/>
          <p:nvPr/>
        </p:nvSpPr>
        <p:spPr>
          <a:xfrm>
            <a:off x="3520440" y="2468880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MAE (passagers)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14"/>
          <p:cNvSpPr/>
          <p:nvPr/>
        </p:nvSpPr>
        <p:spPr>
          <a:xfrm>
            <a:off x="6309360" y="1554480"/>
            <a:ext cx="2743200" cy="1463040"/>
          </a:xfrm>
          <a:prstGeom prst="roundRect">
            <a:avLst>
              <a:gd fmla="val 625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14"/>
          <p:cNvSpPr/>
          <p:nvPr/>
        </p:nvSpPr>
        <p:spPr>
          <a:xfrm>
            <a:off x="6446520" y="1737360"/>
            <a:ext cx="24688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800"/>
              <a:buFont typeface="Arial"/>
              <a:buNone/>
            </a:pPr>
            <a:r>
              <a:rPr b="1" i="0" lang="en-US" sz="30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5,3 %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4"/>
          <p:cNvSpPr/>
          <p:nvPr/>
        </p:nvSpPr>
        <p:spPr>
          <a:xfrm>
            <a:off x="6446520" y="2468880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MAPE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4"/>
          <p:cNvSpPr/>
          <p:nvPr/>
        </p:nvSpPr>
        <p:spPr>
          <a:xfrm>
            <a:off x="9235440" y="1554480"/>
            <a:ext cx="2743200" cy="1463040"/>
          </a:xfrm>
          <a:prstGeom prst="roundRect">
            <a:avLst>
              <a:gd fmla="val 625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14"/>
          <p:cNvSpPr/>
          <p:nvPr/>
        </p:nvSpPr>
        <p:spPr>
          <a:xfrm>
            <a:off x="9372600" y="1737360"/>
            <a:ext cx="24688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2800"/>
              <a:buFont typeface="Arial"/>
              <a:buNone/>
            </a:pPr>
            <a:r>
              <a:rPr b="1" i="0" lang="en-US" sz="30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0,66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4"/>
          <p:cNvSpPr/>
          <p:nvPr/>
        </p:nvSpPr>
        <p:spPr>
          <a:xfrm>
            <a:off x="9372600" y="2468880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R² hors échantillon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4"/>
          <p:cNvSpPr/>
          <p:nvPr/>
        </p:nvSpPr>
        <p:spPr>
          <a:xfrm>
            <a:off x="457200" y="3291840"/>
            <a:ext cx="11247120" cy="2468880"/>
          </a:xfrm>
          <a:prstGeom prst="roundRect">
            <a:avLst>
              <a:gd fmla="val 370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14"/>
          <p:cNvSpPr/>
          <p:nvPr/>
        </p:nvSpPr>
        <p:spPr>
          <a:xfrm>
            <a:off x="731520" y="347472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Interprétation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4"/>
          <p:cNvSpPr/>
          <p:nvPr/>
        </p:nvSpPr>
        <p:spPr>
          <a:xfrm>
            <a:off x="731520" y="3931920"/>
            <a:ext cx="10698480" cy="1645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• Calage 1990-2011, validation 2012-2019 : huit années jamais vues par le modèle.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• 5,3 % d'erreur relative moyenne hors échantillon. Le R² dans l'échantillon vaut 1 par construction pour ce modèle : il ne mesure rien.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• Projection 2049, hypothèses macro par défaut : +79 % vs 2019.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• Fenêtre choisie hors COVID. En incluant 2020-2023, le R² hors échantillon de toutes les variantes devient négatif : le choc n'est pas prévisible à partir de la population et du revenu.
• Les valeurs n'incluent pas les transferts (ex. avec Toronto).</a:t>
            </a:r>
            <a:b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350">
                <a:solidFill>
                  <a:srgbClr val="2F3A44"/>
                </a:solidFill>
              </a:rPr>
              <a:t/>
            </a:r>
            <a:endParaRPr sz="1350">
              <a:solidFill>
                <a:srgbClr val="2F3A44"/>
              </a:solidFill>
            </a:endParaRPr>
          </a:p>
        </p:txBody>
      </p:sp>
      <p:sp>
        <p:nvSpPr>
          <p:cNvPr id="346" name="Google Shape;346;p14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15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06  ·  VARIANTES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15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Comparaison des variantes Kenza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5"/>
          <p:cNvSpPr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solidFill>
            <a:srgbClr val="E5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15"/>
          <p:cNvSpPr/>
          <p:nvPr/>
        </p:nvSpPr>
        <p:spPr>
          <a:xfrm>
            <a:off x="457200" y="1188720"/>
            <a:ext cx="29260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Modèle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5"/>
          <p:cNvSpPr/>
          <p:nvPr/>
        </p:nvSpPr>
        <p:spPr>
          <a:xfrm>
            <a:off x="3383280" y="118872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RMSE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5"/>
          <p:cNvSpPr/>
          <p:nvPr/>
        </p:nvSpPr>
        <p:spPr>
          <a:xfrm>
            <a:off x="5029200" y="118872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MAE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15"/>
          <p:cNvSpPr/>
          <p:nvPr/>
        </p:nvSpPr>
        <p:spPr>
          <a:xfrm>
            <a:off x="6675120" y="118872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MAPE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5"/>
          <p:cNvSpPr/>
          <p:nvPr/>
        </p:nvSpPr>
        <p:spPr>
          <a:xfrm>
            <a:off x="8321040" y="118872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R² hors éch.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5"/>
          <p:cNvSpPr/>
          <p:nvPr/>
        </p:nvSpPr>
        <p:spPr>
          <a:xfrm>
            <a:off x="9692640" y="1188720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R² in-éch.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5"/>
          <p:cNvSpPr/>
          <p:nvPr/>
        </p:nvSpPr>
        <p:spPr>
          <a:xfrm>
            <a:off x="457200" y="1600200"/>
            <a:ext cx="11247120" cy="438912"/>
          </a:xfrm>
          <a:prstGeom prst="rect">
            <a:avLst/>
          </a:prstGeom>
          <a:solidFill>
            <a:srgbClr val="E5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p15"/>
          <p:cNvSpPr/>
          <p:nvPr/>
        </p:nvSpPr>
        <p:spPr>
          <a:xfrm>
            <a:off x="457200" y="1600200"/>
            <a:ext cx="29260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 complet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15"/>
          <p:cNvSpPr/>
          <p:nvPr/>
        </p:nvSpPr>
        <p:spPr>
          <a:xfrm>
            <a:off x="3383280" y="1600200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13 835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5"/>
          <p:cNvSpPr/>
          <p:nvPr/>
        </p:nvSpPr>
        <p:spPr>
          <a:xfrm>
            <a:off x="5029200" y="1600200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11 165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15"/>
          <p:cNvSpPr/>
          <p:nvPr/>
        </p:nvSpPr>
        <p:spPr>
          <a:xfrm>
            <a:off x="6675120" y="1600200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12,8 %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5"/>
          <p:cNvSpPr/>
          <p:nvPr/>
        </p:nvSpPr>
        <p:spPr>
          <a:xfrm>
            <a:off x="8321040" y="1600200"/>
            <a:ext cx="1371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-0,82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15"/>
          <p:cNvSpPr/>
          <p:nvPr/>
        </p:nvSpPr>
        <p:spPr>
          <a:xfrm>
            <a:off x="9692640" y="1600200"/>
            <a:ext cx="20116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-0,14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15"/>
          <p:cNvSpPr/>
          <p:nvPr/>
        </p:nvSpPr>
        <p:spPr>
          <a:xfrm>
            <a:off x="457200" y="2039112"/>
            <a:ext cx="1124712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15"/>
          <p:cNvSpPr/>
          <p:nvPr/>
        </p:nvSpPr>
        <p:spPr>
          <a:xfrm>
            <a:off x="457200" y="2039112"/>
            <a:ext cx="29260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 simplifié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5"/>
          <p:cNvSpPr/>
          <p:nvPr/>
        </p:nvSpPr>
        <p:spPr>
          <a:xfrm>
            <a:off x="3383280" y="2039112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10 498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5"/>
          <p:cNvSpPr/>
          <p:nvPr/>
        </p:nvSpPr>
        <p:spPr>
          <a:xfrm>
            <a:off x="5029200" y="2039112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8 356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15"/>
          <p:cNvSpPr/>
          <p:nvPr/>
        </p:nvSpPr>
        <p:spPr>
          <a:xfrm>
            <a:off x="6675120" y="2039112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9,6 %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15"/>
          <p:cNvSpPr/>
          <p:nvPr/>
        </p:nvSpPr>
        <p:spPr>
          <a:xfrm>
            <a:off x="8321040" y="2039112"/>
            <a:ext cx="1371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-0,05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5"/>
          <p:cNvSpPr/>
          <p:nvPr/>
        </p:nvSpPr>
        <p:spPr>
          <a:xfrm>
            <a:off x="9692640" y="2039112"/>
            <a:ext cx="20116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+0,33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5"/>
          <p:cNvSpPr/>
          <p:nvPr/>
        </p:nvSpPr>
        <p:spPr>
          <a:xfrm>
            <a:off x="457200" y="2478024"/>
            <a:ext cx="11247120" cy="438912"/>
          </a:xfrm>
          <a:prstGeom prst="rect">
            <a:avLst/>
          </a:prstGeom>
          <a:solidFill>
            <a:srgbClr val="EDF4F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15"/>
          <p:cNvSpPr/>
          <p:nvPr/>
        </p:nvSpPr>
        <p:spPr>
          <a:xfrm>
            <a:off x="457200" y="2478024"/>
            <a:ext cx="29260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1" i="0" lang="en-US" sz="124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Kenza indexé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5"/>
          <p:cNvSpPr/>
          <p:nvPr/>
        </p:nvSpPr>
        <p:spPr>
          <a:xfrm>
            <a:off x="3383280" y="2478024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6 024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5"/>
          <p:cNvSpPr/>
          <p:nvPr/>
        </p:nvSpPr>
        <p:spPr>
          <a:xfrm>
            <a:off x="5029200" y="2478024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4 671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15"/>
          <p:cNvSpPr/>
          <p:nvPr/>
        </p:nvSpPr>
        <p:spPr>
          <a:xfrm>
            <a:off x="6675120" y="2478024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5,3 %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5"/>
          <p:cNvSpPr/>
          <p:nvPr/>
        </p:nvSpPr>
        <p:spPr>
          <a:xfrm>
            <a:off x="8321040" y="2478024"/>
            <a:ext cx="1371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+0,66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5"/>
          <p:cNvSpPr/>
          <p:nvPr/>
        </p:nvSpPr>
        <p:spPr>
          <a:xfrm>
            <a:off x="9692640" y="2478024"/>
            <a:ext cx="20116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1,00 *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5"/>
          <p:cNvSpPr/>
          <p:nvPr/>
        </p:nvSpPr>
        <p:spPr>
          <a:xfrm>
            <a:off x="457200" y="2916936"/>
            <a:ext cx="1124712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15"/>
          <p:cNvSpPr/>
          <p:nvPr/>
        </p:nvSpPr>
        <p:spPr>
          <a:xfrm>
            <a:off x="457200" y="2916936"/>
            <a:ext cx="29260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 simplifié combiné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5"/>
          <p:cNvSpPr/>
          <p:nvPr/>
        </p:nvSpPr>
        <p:spPr>
          <a:xfrm>
            <a:off x="3383280" y="2916936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8 384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15"/>
          <p:cNvSpPr/>
          <p:nvPr/>
        </p:nvSpPr>
        <p:spPr>
          <a:xfrm>
            <a:off x="5029200" y="2916936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6 574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5"/>
          <p:cNvSpPr/>
          <p:nvPr/>
        </p:nvSpPr>
        <p:spPr>
          <a:xfrm>
            <a:off x="6675120" y="2916936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7,5 %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15"/>
          <p:cNvSpPr/>
          <p:nvPr/>
        </p:nvSpPr>
        <p:spPr>
          <a:xfrm>
            <a:off x="8321040" y="2916936"/>
            <a:ext cx="1371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+0,33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5"/>
          <p:cNvSpPr/>
          <p:nvPr/>
        </p:nvSpPr>
        <p:spPr>
          <a:xfrm>
            <a:off x="9692640" y="2916936"/>
            <a:ext cx="20116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+0,78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82;p15"/>
          <p:cNvSpPr/>
          <p:nvPr/>
        </p:nvSpPr>
        <p:spPr>
          <a:xfrm>
            <a:off x="457200" y="3355848"/>
            <a:ext cx="11247120" cy="438912"/>
          </a:xfrm>
          <a:prstGeom prst="rect">
            <a:avLst/>
          </a:prstGeom>
          <a:solidFill>
            <a:srgbClr val="E5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83;p15"/>
          <p:cNvSpPr/>
          <p:nvPr/>
        </p:nvSpPr>
        <p:spPr>
          <a:xfrm>
            <a:off x="457200" y="3355848"/>
            <a:ext cx="29260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 simplifié indexé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84;p15"/>
          <p:cNvSpPr/>
          <p:nvPr/>
        </p:nvSpPr>
        <p:spPr>
          <a:xfrm>
            <a:off x="3383280" y="3355848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8 540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85;p15"/>
          <p:cNvSpPr/>
          <p:nvPr/>
        </p:nvSpPr>
        <p:spPr>
          <a:xfrm>
            <a:off x="5029200" y="3355848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6 660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86;p15"/>
          <p:cNvSpPr/>
          <p:nvPr/>
        </p:nvSpPr>
        <p:spPr>
          <a:xfrm>
            <a:off x="6675120" y="3355848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7,6 %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87;p15"/>
          <p:cNvSpPr/>
          <p:nvPr/>
        </p:nvSpPr>
        <p:spPr>
          <a:xfrm>
            <a:off x="8321040" y="3355848"/>
            <a:ext cx="1371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+0,31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388;p15"/>
          <p:cNvSpPr/>
          <p:nvPr/>
        </p:nvSpPr>
        <p:spPr>
          <a:xfrm>
            <a:off x="9692640" y="3355848"/>
            <a:ext cx="20116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+0,88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15"/>
          <p:cNvSpPr/>
          <p:nvPr/>
        </p:nvSpPr>
        <p:spPr>
          <a:xfrm>
            <a:off x="457200" y="393192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200"/>
              <a:buFont typeface="Calibri"/>
              <a:buNone/>
            </a:pPr>
            <a:r>
              <a:rPr b="0" i="0" lang="en-US" sz="10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* R² in-échantillon = 1 par construction : Kenza indexé inverse la distribution à partir du trafic observé. Seule la colonne hors échantillon mesure un pouvoir prédictif.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5"/>
          <p:cNvSpPr/>
          <p:nvPr/>
        </p:nvSpPr>
        <p:spPr>
          <a:xfrm>
            <a:off x="457200" y="4389120"/>
            <a:ext cx="11247120" cy="1463040"/>
          </a:xfrm>
          <a:prstGeom prst="roundRect">
            <a:avLst>
              <a:gd fmla="val 5000" name="adj"/>
            </a:avLst>
          </a:prstGeom>
          <a:solidFill>
            <a:srgbClr val="EDF4F7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" name="Google Shape;391;p15"/>
          <p:cNvSpPr/>
          <p:nvPr/>
        </p:nvSpPr>
        <p:spPr>
          <a:xfrm>
            <a:off x="731520" y="4572000"/>
            <a:ext cx="10698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1400"/>
              <a:buFont typeface="Arial"/>
              <a:buNone/>
            </a:pPr>
            <a:r>
              <a:rPr b="1" i="0" lang="en-US" sz="15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Interprétation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5"/>
          <p:cNvSpPr/>
          <p:nvPr/>
        </p:nvSpPr>
        <p:spPr>
          <a:xfrm>
            <a:off x="731520" y="4937760"/>
            <a:ext cx="106984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Calage 1990-2011, validation 2012-2019. Hors échantillon, les variantes indexées dominent nettement ; Kenza simplifié, sur les coefficients calibrés du classeur Excel, ne fait pas mieux que la moyenne (R² ≈ 0). Un score « sur historique » ne classe pas les modèles : Kenza indexé y affiche un R² de 1 sans qu'il mesure quoi que ce soit. Le choix final dépendra des données disponibles (prix ou non) et des besoins de scénarios.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5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17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08  ·  DONNÉES DEMANDÉES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17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Données à réunir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17"/>
          <p:cNvSpPr/>
          <p:nvPr/>
        </p:nvSpPr>
        <p:spPr>
          <a:xfrm>
            <a:off x="457200" y="1143000"/>
            <a:ext cx="5486400" cy="1280160"/>
          </a:xfrm>
          <a:prstGeom prst="roundRect">
            <a:avLst>
              <a:gd fmla="val 571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17"/>
          <p:cNvSpPr/>
          <p:nvPr/>
        </p:nvSpPr>
        <p:spPr>
          <a:xfrm>
            <a:off x="731520" y="1325880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5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Trafic historique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17"/>
          <p:cNvSpPr/>
          <p:nvPr/>
        </p:nvSpPr>
        <p:spPr>
          <a:xfrm>
            <a:off x="731520" y="1737360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Annuel, ≥ 20 ans, si possible par segment (domestique, transfrontalier, international).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17"/>
          <p:cNvSpPr/>
          <p:nvPr/>
        </p:nvSpPr>
        <p:spPr>
          <a:xfrm>
            <a:off x="6217920" y="1143000"/>
            <a:ext cx="5486400" cy="1280160"/>
          </a:xfrm>
          <a:prstGeom prst="roundRect">
            <a:avLst>
              <a:gd fmla="val 571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" name="Google Shape;405;p17"/>
          <p:cNvSpPr/>
          <p:nvPr/>
        </p:nvSpPr>
        <p:spPr>
          <a:xfrm>
            <a:off x="6492240" y="1325880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5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Prévisions macro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17"/>
          <p:cNvSpPr/>
          <p:nvPr/>
        </p:nvSpPr>
        <p:spPr>
          <a:xfrm>
            <a:off x="6492240" y="1737360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PIB et population de la zone de chalandise (sources officielles ou internes).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17"/>
          <p:cNvSpPr/>
          <p:nvPr/>
        </p:nvSpPr>
        <p:spPr>
          <a:xfrm>
            <a:off x="457200" y="2560320"/>
            <a:ext cx="5486400" cy="1280160"/>
          </a:xfrm>
          <a:prstGeom prst="roundRect">
            <a:avLst>
              <a:gd fmla="val 571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17"/>
          <p:cNvSpPr/>
          <p:nvPr/>
        </p:nvSpPr>
        <p:spPr>
          <a:xfrm>
            <a:off x="731520" y="2743200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5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Prix du billet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17"/>
          <p:cNvSpPr/>
          <p:nvPr/>
        </p:nvSpPr>
        <p:spPr>
          <a:xfrm>
            <a:off x="731520" y="3154680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Prix moyen pondéré ou indices disponibles (optionnel pour variantes indexées).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17"/>
          <p:cNvSpPr/>
          <p:nvPr/>
        </p:nvSpPr>
        <p:spPr>
          <a:xfrm>
            <a:off x="6217920" y="2560320"/>
            <a:ext cx="5486400" cy="1280160"/>
          </a:xfrm>
          <a:prstGeom prst="roundRect">
            <a:avLst>
              <a:gd fmla="val 571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" name="Google Shape;411;p17"/>
          <p:cNvSpPr/>
          <p:nvPr/>
        </p:nvSpPr>
        <p:spPr>
          <a:xfrm>
            <a:off x="6492240" y="2743200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5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Hypothèses internes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17"/>
          <p:cNvSpPr/>
          <p:nvPr/>
        </p:nvSpPr>
        <p:spPr>
          <a:xfrm>
            <a:off x="6492240" y="3154680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Études antérieures, plan stratégique, scénarios déjà utilisés.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17"/>
          <p:cNvSpPr/>
          <p:nvPr/>
        </p:nvSpPr>
        <p:spPr>
          <a:xfrm>
            <a:off x="457200" y="3977640"/>
            <a:ext cx="5486400" cy="1280160"/>
          </a:xfrm>
          <a:prstGeom prst="roundRect">
            <a:avLst>
              <a:gd fmla="val 571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" name="Google Shape;414;p17"/>
          <p:cNvSpPr/>
          <p:nvPr/>
        </p:nvSpPr>
        <p:spPr>
          <a:xfrm>
            <a:off x="731520" y="4160520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5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Contraintes capacité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17"/>
          <p:cNvSpPr/>
          <p:nvPr/>
        </p:nvSpPr>
        <p:spPr>
          <a:xfrm>
            <a:off x="731520" y="4572000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Mouvements max, surface terminale, slots, projets d'infrastructure.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17"/>
          <p:cNvSpPr/>
          <p:nvPr/>
        </p:nvSpPr>
        <p:spPr>
          <a:xfrm>
            <a:off x="6217920" y="3977640"/>
            <a:ext cx="5486400" cy="1280160"/>
          </a:xfrm>
          <a:prstGeom prst="roundRect">
            <a:avLst>
              <a:gd fmla="val 571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" name="Google Shape;417;p17"/>
          <p:cNvSpPr/>
          <p:nvPr/>
        </p:nvSpPr>
        <p:spPr>
          <a:xfrm>
            <a:off x="6492240" y="4160520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5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Segmentation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17"/>
          <p:cNvSpPr/>
          <p:nvPr/>
        </p:nvSpPr>
        <p:spPr>
          <a:xfrm>
            <a:off x="6492240" y="4572000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Par type de passagers (loisir / affaires) si disponible.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17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19"/>
          <p:cNvSpPr/>
          <p:nvPr/>
        </p:nvSpPr>
        <p:spPr>
          <a:xfrm>
            <a:off x="457200" y="228600"/>
            <a:ext cx="10972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08  ·  DÉCISIONS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19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lang="en-US" sz="2700">
                <a:solidFill>
                  <a:srgbClr val="17324D"/>
                </a:solidFill>
              </a:rPr>
              <a:t>Intrants nécessaires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19"/>
          <p:cNvSpPr/>
          <p:nvPr/>
        </p:nvSpPr>
        <p:spPr>
          <a:xfrm>
            <a:off x="457200" y="1051560"/>
            <a:ext cx="109728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600"/>
              <a:buFont typeface="Calibri"/>
              <a:buNone/>
            </a:pPr>
            <a:r>
              <a:rPr b="0" i="0" lang="en-US" sz="140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Approbations et orientations à obtenir :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19"/>
          <p:cNvSpPr/>
          <p:nvPr/>
        </p:nvSpPr>
        <p:spPr>
          <a:xfrm>
            <a:off x="457200" y="1554480"/>
            <a:ext cx="11247000" cy="640200"/>
          </a:xfrm>
          <a:prstGeom prst="roundRect">
            <a:avLst>
              <a:gd fmla="val 11429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9"/>
          <p:cNvSpPr/>
          <p:nvPr/>
        </p:nvSpPr>
        <p:spPr>
          <a:xfrm>
            <a:off x="640080" y="1691640"/>
            <a:ext cx="365700" cy="3657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25400">
            <a:solidFill>
              <a:srgbClr val="03469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19"/>
          <p:cNvSpPr/>
          <p:nvPr/>
        </p:nvSpPr>
        <p:spPr>
          <a:xfrm>
            <a:off x="1280160" y="1645920"/>
            <a:ext cx="101499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Validation du périmètre : le modèle Kenza est adapté aux besoins de l'exploitant.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19"/>
          <p:cNvSpPr/>
          <p:nvPr/>
        </p:nvSpPr>
        <p:spPr>
          <a:xfrm>
            <a:off x="457200" y="2331720"/>
            <a:ext cx="11247000" cy="640200"/>
          </a:xfrm>
          <a:prstGeom prst="roundRect">
            <a:avLst>
              <a:gd fmla="val 11429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19"/>
          <p:cNvSpPr/>
          <p:nvPr/>
        </p:nvSpPr>
        <p:spPr>
          <a:xfrm>
            <a:off x="640080" y="2468880"/>
            <a:ext cx="365700" cy="3657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25400">
            <a:solidFill>
              <a:srgbClr val="03469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19"/>
          <p:cNvSpPr/>
          <p:nvPr/>
        </p:nvSpPr>
        <p:spPr>
          <a:xfrm>
            <a:off x="1280160" y="2423160"/>
            <a:ext cx="101499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Données : confirmation des fichiers disponibles et du calendrier de transmission.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19"/>
          <p:cNvSpPr/>
          <p:nvPr/>
        </p:nvSpPr>
        <p:spPr>
          <a:xfrm>
            <a:off x="457200" y="3108960"/>
            <a:ext cx="11247000" cy="640200"/>
          </a:xfrm>
          <a:prstGeom prst="roundRect">
            <a:avLst>
              <a:gd fmla="val 11429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19"/>
          <p:cNvSpPr/>
          <p:nvPr/>
        </p:nvSpPr>
        <p:spPr>
          <a:xfrm>
            <a:off x="640080" y="3246120"/>
            <a:ext cx="365700" cy="3657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25400">
            <a:solidFill>
              <a:srgbClr val="03469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6" name="Google Shape;436;p19"/>
          <p:cNvSpPr/>
          <p:nvPr/>
        </p:nvSpPr>
        <p:spPr>
          <a:xfrm>
            <a:off x="1280160" y="3200400"/>
            <a:ext cx="101499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Scénarios : choix des hypothèses centrales, haut et bas (taux de croissance, inflation).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19"/>
          <p:cNvSpPr/>
          <p:nvPr/>
        </p:nvSpPr>
        <p:spPr>
          <a:xfrm>
            <a:off x="457200" y="3886200"/>
            <a:ext cx="11247000" cy="640200"/>
          </a:xfrm>
          <a:prstGeom prst="roundRect">
            <a:avLst>
              <a:gd fmla="val 11429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19"/>
          <p:cNvSpPr/>
          <p:nvPr/>
        </p:nvSpPr>
        <p:spPr>
          <a:xfrm>
            <a:off x="640080" y="4023360"/>
            <a:ext cx="365700" cy="3657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25400">
            <a:solidFill>
              <a:srgbClr val="03469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19"/>
          <p:cNvSpPr/>
          <p:nvPr/>
        </p:nvSpPr>
        <p:spPr>
          <a:xfrm>
            <a:off x="1280160" y="3977640"/>
            <a:ext cx="101499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Fourchettes : principe retenu (percentiles statistiques ou scénarios économiques).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19"/>
          <p:cNvSpPr/>
          <p:nvPr/>
        </p:nvSpPr>
        <p:spPr>
          <a:xfrm>
            <a:off x="457200" y="4663440"/>
            <a:ext cx="11247000" cy="640200"/>
          </a:xfrm>
          <a:prstGeom prst="roundRect">
            <a:avLst>
              <a:gd fmla="val 11429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19"/>
          <p:cNvSpPr/>
          <p:nvPr/>
        </p:nvSpPr>
        <p:spPr>
          <a:xfrm>
            <a:off x="640080" y="4800600"/>
            <a:ext cx="365700" cy="3657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25400">
            <a:solidFill>
              <a:srgbClr val="03469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2" name="Google Shape;442;p19"/>
          <p:cNvSpPr/>
          <p:nvPr/>
        </p:nvSpPr>
        <p:spPr>
          <a:xfrm>
            <a:off x="1280160" y="4754880"/>
            <a:ext cx="101499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Prochaine étape : validation du planning et désignation des points de contact.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19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g3f6e2a12bd2_0_4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image.png" id="449" name="Google Shape;449;g3f6e2a12bd2_0_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9125" y="6086475"/>
            <a:ext cx="10953750" cy="2952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50" name="Google Shape;450;g3f6e2a12bd2_0_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19125" y="4991100"/>
            <a:ext cx="10953750" cy="904875"/>
          </a:xfrm>
          <a:prstGeom prst="rect">
            <a:avLst/>
          </a:prstGeom>
          <a:noFill/>
          <a:ln>
            <a:noFill/>
          </a:ln>
        </p:spPr>
      </p:pic>
      <p:sp>
        <p:nvSpPr>
          <p:cNvPr id="451" name="Google Shape;451;g3f6e2a12bd2_0_4"/>
          <p:cNvSpPr txBox="1"/>
          <p:nvPr/>
        </p:nvSpPr>
        <p:spPr>
          <a:xfrm>
            <a:off x="619125" y="476250"/>
            <a:ext cx="109539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07 · PERSPECTIVES &amp; DÉVELOPPEMENTS</a:t>
            </a:r>
            <a:endParaRPr/>
          </a:p>
        </p:txBody>
      </p:sp>
      <p:sp>
        <p:nvSpPr>
          <p:cNvPr id="452" name="Google Shape;452;g3f6e2a12bd2_0_4"/>
          <p:cNvSpPr txBox="1"/>
          <p:nvPr/>
        </p:nvSpPr>
        <p:spPr>
          <a:xfrm>
            <a:off x="619125" y="723900"/>
            <a:ext cx="115014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0F172A"/>
                </a:solidFill>
                <a:latin typeface="Merriweather"/>
                <a:ea typeface="Merriweather"/>
                <a:cs typeface="Merriweather"/>
                <a:sym typeface="Merriweather"/>
              </a:rPr>
              <a:t>Axes de recherche et développement</a:t>
            </a:r>
            <a:endParaRPr/>
          </a:p>
        </p:txBody>
      </p:sp>
      <p:sp>
        <p:nvSpPr>
          <p:cNvPr id="453" name="Google Shape;453;g3f6e2a12bd2_0_4"/>
          <p:cNvSpPr txBox="1"/>
          <p:nvPr/>
        </p:nvSpPr>
        <p:spPr>
          <a:xfrm>
            <a:off x="619125" y="6229350"/>
            <a:ext cx="34671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Prévision du trafic aérien à long terme</a:t>
            </a:r>
            <a:endParaRPr/>
          </a:p>
        </p:txBody>
      </p:sp>
      <p:sp>
        <p:nvSpPr>
          <p:cNvPr id="454" name="Google Shape;454;g3f6e2a12bd2_0_4"/>
          <p:cNvSpPr/>
          <p:nvPr/>
        </p:nvSpPr>
        <p:spPr>
          <a:xfrm>
            <a:off x="619125" y="647700"/>
            <a:ext cx="66600" cy="66600"/>
          </a:xfrm>
          <a:prstGeom prst="roundRect">
            <a:avLst>
              <a:gd fmla="val 50000" name="adj"/>
            </a:avLst>
          </a:prstGeom>
          <a:solidFill>
            <a:srgbClr val="00508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g3f6e2a12bd2_0_4"/>
          <p:cNvSpPr txBox="1"/>
          <p:nvPr/>
        </p:nvSpPr>
        <p:spPr>
          <a:xfrm>
            <a:off x="619125" y="5191125"/>
            <a:ext cx="115014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Merriweather"/>
                <a:ea typeface="Merriweather"/>
                <a:cs typeface="Merriweather"/>
                <a:sym typeface="Merriweather"/>
              </a:rPr>
              <a:t>Mélange des méthodes</a:t>
            </a:r>
            <a:endParaRPr/>
          </a:p>
        </p:txBody>
      </p:sp>
      <p:sp>
        <p:nvSpPr>
          <p:cNvPr id="456" name="Google Shape;456;g3f6e2a12bd2_0_4"/>
          <p:cNvSpPr txBox="1"/>
          <p:nvPr/>
        </p:nvSpPr>
        <p:spPr>
          <a:xfrm>
            <a:off x="619125" y="5467350"/>
            <a:ext cx="10953900" cy="1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Possibilité de combiner ces approches (par exemple </a:t>
            </a:r>
            <a:r>
              <a:rPr lang="en-US" sz="1125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02 et 03</a:t>
            </a:r>
            <a:r>
              <a:rPr b="0" i="0" lang="en-US" sz="1125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) </a:t>
            </a:r>
            <a:r>
              <a:rPr lang="en-US" sz="1125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pour étudier la méthode la plus efficace</a:t>
            </a:r>
            <a:r>
              <a:rPr b="0" i="0" lang="en-US" sz="1125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.</a:t>
            </a:r>
            <a:endParaRPr/>
          </a:p>
        </p:txBody>
      </p:sp>
      <p:sp>
        <p:nvSpPr>
          <p:cNvPr id="457" name="Google Shape;457;g3f6e2a12bd2_0_4"/>
          <p:cNvSpPr txBox="1"/>
          <p:nvPr/>
        </p:nvSpPr>
        <p:spPr>
          <a:xfrm>
            <a:off x="619125" y="1491555"/>
            <a:ext cx="33654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01</a:t>
            </a:r>
            <a:endParaRPr/>
          </a:p>
        </p:txBody>
      </p:sp>
      <p:sp>
        <p:nvSpPr>
          <p:cNvPr id="458" name="Google Shape;458;g3f6e2a12bd2_0_4"/>
          <p:cNvSpPr txBox="1"/>
          <p:nvPr/>
        </p:nvSpPr>
        <p:spPr>
          <a:xfrm>
            <a:off x="619125" y="1720155"/>
            <a:ext cx="35337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Merriweather"/>
                <a:ea typeface="Merriweather"/>
                <a:cs typeface="Merriweather"/>
                <a:sym typeface="Merriweather"/>
              </a:rPr>
              <a:t>Bootstrap</a:t>
            </a:r>
            <a:endParaRPr/>
          </a:p>
        </p:txBody>
      </p:sp>
      <p:sp>
        <p:nvSpPr>
          <p:cNvPr id="459" name="Google Shape;459;g3f6e2a12bd2_0_4"/>
          <p:cNvSpPr txBox="1"/>
          <p:nvPr/>
        </p:nvSpPr>
        <p:spPr>
          <a:xfrm>
            <a:off x="619125" y="2082105"/>
            <a:ext cx="3365400" cy="10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Variante de la méthode de Kenza déjà implémentée par le passé et utilisée </a:t>
            </a:r>
            <a:r>
              <a:rPr lang="en-US" sz="1125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par ADP </a:t>
            </a:r>
            <a:r>
              <a:rPr b="0" i="0" lang="en-US" sz="1125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pour probabiliser la demande en rééchantillonnant les données historiques. </a:t>
            </a:r>
            <a:endParaRPr/>
          </a:p>
        </p:txBody>
      </p:sp>
      <p:sp>
        <p:nvSpPr>
          <p:cNvPr id="460" name="Google Shape;460;g3f6e2a12bd2_0_4"/>
          <p:cNvSpPr txBox="1"/>
          <p:nvPr/>
        </p:nvSpPr>
        <p:spPr>
          <a:xfrm>
            <a:off x="4413200" y="1491555"/>
            <a:ext cx="33654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02</a:t>
            </a:r>
            <a:endParaRPr/>
          </a:p>
        </p:txBody>
      </p:sp>
      <p:sp>
        <p:nvSpPr>
          <p:cNvPr id="461" name="Google Shape;461;g3f6e2a12bd2_0_4"/>
          <p:cNvSpPr txBox="1"/>
          <p:nvPr/>
        </p:nvSpPr>
        <p:spPr>
          <a:xfrm>
            <a:off x="4413200" y="1720155"/>
            <a:ext cx="35337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Merriweather"/>
                <a:ea typeface="Merriweather"/>
                <a:cs typeface="Merriweather"/>
                <a:sym typeface="Merriweather"/>
              </a:rPr>
              <a:t>Optimisation contextuelle</a:t>
            </a:r>
            <a:endParaRPr/>
          </a:p>
        </p:txBody>
      </p:sp>
      <p:sp>
        <p:nvSpPr>
          <p:cNvPr id="462" name="Google Shape;462;g3f6e2a12bd2_0_4"/>
          <p:cNvSpPr txBox="1"/>
          <p:nvPr/>
        </p:nvSpPr>
        <p:spPr>
          <a:xfrm>
            <a:off x="4413200" y="2082105"/>
            <a:ext cx="3365400" cy="128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Approche dans laquelle les hypothèses macroéconomiques et les scénarios de marché sont intégrés directement comme des informations additionnelles pour adapter le modèle.</a:t>
            </a:r>
            <a:endParaRPr/>
          </a:p>
        </p:txBody>
      </p:sp>
      <p:sp>
        <p:nvSpPr>
          <p:cNvPr id="463" name="Google Shape;463;g3f6e2a12bd2_0_4"/>
          <p:cNvSpPr txBox="1"/>
          <p:nvPr/>
        </p:nvSpPr>
        <p:spPr>
          <a:xfrm>
            <a:off x="8207275" y="1491555"/>
            <a:ext cx="33657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03</a:t>
            </a:r>
            <a:endParaRPr/>
          </a:p>
        </p:txBody>
      </p:sp>
      <p:sp>
        <p:nvSpPr>
          <p:cNvPr id="464" name="Google Shape;464;g3f6e2a12bd2_0_4"/>
          <p:cNvSpPr txBox="1"/>
          <p:nvPr/>
        </p:nvSpPr>
        <p:spPr>
          <a:xfrm>
            <a:off x="8207275" y="1720155"/>
            <a:ext cx="35340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Merriweather"/>
                <a:ea typeface="Merriweather"/>
                <a:cs typeface="Merriweather"/>
                <a:sym typeface="Merriweather"/>
              </a:rPr>
              <a:t>Optimisation robuste en distribution</a:t>
            </a:r>
            <a:endParaRPr/>
          </a:p>
        </p:txBody>
      </p:sp>
      <p:sp>
        <p:nvSpPr>
          <p:cNvPr id="465" name="Google Shape;465;g3f6e2a12bd2_0_4"/>
          <p:cNvSpPr txBox="1"/>
          <p:nvPr/>
        </p:nvSpPr>
        <p:spPr>
          <a:xfrm>
            <a:off x="8207275" y="2329755"/>
            <a:ext cx="3365700" cy="72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Méthode centrée sur l'analyse du pire cas afin d'assurer la résilience des décisions face aux incertitudes et à la variabilité des données.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0"/>
          <p:cNvSpPr/>
          <p:nvPr/>
        </p:nvSpPr>
        <p:spPr>
          <a:xfrm>
            <a:off x="777240" y="960120"/>
            <a:ext cx="105156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400"/>
              <a:buFont typeface="Calibri"/>
              <a:buNone/>
            </a:pPr>
            <a:r>
              <a:rPr b="1" i="0" lang="en-US" sz="11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CONCLUSION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20"/>
          <p:cNvSpPr/>
          <p:nvPr/>
        </p:nvSpPr>
        <p:spPr>
          <a:xfrm>
            <a:off x="777240" y="1600200"/>
            <a:ext cx="10607100" cy="128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Arial"/>
              <a:buNone/>
            </a:pPr>
            <a:r>
              <a:rPr b="1" i="0" lang="en-US" sz="29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La méthode Kenza offre un cadre robuste et flexible pour la prévision du trafic.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20"/>
          <p:cNvSpPr/>
          <p:nvPr/>
        </p:nvSpPr>
        <p:spPr>
          <a:xfrm>
            <a:off x="777240" y="3429010"/>
            <a:ext cx="102414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Merci de votre attention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20"/>
          <p:cNvSpPr/>
          <p:nvPr/>
        </p:nvSpPr>
        <p:spPr>
          <a:xfrm>
            <a:off x="914340" y="4523740"/>
            <a:ext cx="102414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b="0" i="0" lang="en-US" sz="11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Auteurs :</a:t>
            </a:r>
            <a:endParaRPr b="0" i="0" sz="1150" u="none" cap="none" strike="noStrike">
              <a:solidFill>
                <a:srgbClr val="6F7A8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F7A84"/>
              </a:buClr>
              <a:buSzPts val="1150"/>
              <a:buFont typeface="Arial"/>
              <a:buChar char="●"/>
            </a:pPr>
            <a:r>
              <a:rPr lang="en-US" sz="1150">
                <a:solidFill>
                  <a:srgbClr val="6F7A84"/>
                </a:solidFill>
                <a:uFill>
                  <a:noFill/>
                </a:uFill>
              </a:rPr>
              <a:t>Chama EL KHEMSANI — ENAC</a:t>
            </a:r>
            <a:r>
              <a:rPr lang="en-US" sz="1150">
                <a:solidFill>
                  <a:srgbClr val="6F7A84"/>
                </a:solidFill>
              </a:rPr>
              <a:t/>
            </a:r>
            <a:endParaRPr sz="1150">
              <a:solidFill>
                <a:srgbClr val="6F7A84"/>
              </a:solidFill>
            </a:endParaRPr>
          </a:p>
          <a:p>
            <a:pPr indent="-301625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F7A84"/>
              </a:buClr>
              <a:buSzPts val="1150"/>
              <a:buChar char="●"/>
            </a:pPr>
            <a:r>
              <a:rPr lang="en-US" sz="1150">
                <a:solidFill>
                  <a:srgbClr val="6F7A84"/>
                </a:solidFill>
              </a:rPr>
              <a:t>Fabian BASTIN — Université de Montréal</a:t>
            </a:r>
            <a:endParaRPr sz="1150">
              <a:solidFill>
                <a:srgbClr val="6F7A84"/>
              </a:solidFill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50">
                <a:solidFill>
                  <a:srgbClr val="6F7A84"/>
                </a:solidFill>
              </a:rPr>
              <a:t>Daniel SALLIER — expertise Kenza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475" name="Google Shape;475;p20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15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06  ·  VARIANTES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15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Validation croisée : backtest glissant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5"/>
          <p:cNvSpPr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solidFill>
            <a:srgbClr val="E5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15"/>
          <p:cNvSpPr/>
          <p:nvPr/>
        </p:nvSpPr>
        <p:spPr>
          <a:xfrm>
            <a:off x="457200" y="1188720"/>
            <a:ext cx="29260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Modèle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5"/>
          <p:cNvSpPr/>
          <p:nvPr/>
        </p:nvSpPr>
        <p:spPr>
          <a:xfrm>
            <a:off x="3383280" y="118872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RMSE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5"/>
          <p:cNvSpPr/>
          <p:nvPr/>
        </p:nvSpPr>
        <p:spPr>
          <a:xfrm>
            <a:off x="5029200" y="118872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MAE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15"/>
          <p:cNvSpPr/>
          <p:nvPr/>
        </p:nvSpPr>
        <p:spPr>
          <a:xfrm>
            <a:off x="6675120" y="118872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MAPE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5"/>
          <p:cNvSpPr/>
          <p:nvPr/>
        </p:nvSpPr>
        <p:spPr>
          <a:xfrm>
            <a:off x="8321040" y="118872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R² glissant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5"/>
          <p:cNvSpPr/>
          <p:nvPr/>
        </p:nvSpPr>
        <p:spPr>
          <a:xfrm>
            <a:off x="9692640" y="1188720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R² 1 coupure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5"/>
          <p:cNvSpPr/>
          <p:nvPr/>
        </p:nvSpPr>
        <p:spPr>
          <a:xfrm>
            <a:off x="457200" y="1600200"/>
            <a:ext cx="11247120" cy="438912"/>
          </a:xfrm>
          <a:prstGeom prst="rect">
            <a:avLst/>
          </a:prstGeom>
          <a:solidFill>
            <a:srgbClr val="E5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p15"/>
          <p:cNvSpPr/>
          <p:nvPr/>
        </p:nvSpPr>
        <p:spPr>
          <a:xfrm>
            <a:off x="457200" y="1600200"/>
            <a:ext cx="29260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 complet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15"/>
          <p:cNvSpPr/>
          <p:nvPr/>
        </p:nvSpPr>
        <p:spPr>
          <a:xfrm>
            <a:off x="3383280" y="1600200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6 932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5"/>
          <p:cNvSpPr/>
          <p:nvPr/>
        </p:nvSpPr>
        <p:spPr>
          <a:xfrm>
            <a:off x="5029200" y="1600200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4 806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15"/>
          <p:cNvSpPr/>
          <p:nvPr/>
        </p:nvSpPr>
        <p:spPr>
          <a:xfrm>
            <a:off x="6675120" y="1600200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6,3 %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5"/>
          <p:cNvSpPr/>
          <p:nvPr/>
        </p:nvSpPr>
        <p:spPr>
          <a:xfrm>
            <a:off x="8321040" y="1600200"/>
            <a:ext cx="1371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+0,60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15"/>
          <p:cNvSpPr/>
          <p:nvPr/>
        </p:nvSpPr>
        <p:spPr>
          <a:xfrm>
            <a:off x="9692640" y="1600200"/>
            <a:ext cx="20116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-0,82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15"/>
          <p:cNvSpPr/>
          <p:nvPr/>
        </p:nvSpPr>
        <p:spPr>
          <a:xfrm>
            <a:off x="457200" y="2039112"/>
            <a:ext cx="1124712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15"/>
          <p:cNvSpPr/>
          <p:nvPr/>
        </p:nvSpPr>
        <p:spPr>
          <a:xfrm>
            <a:off x="457200" y="2039112"/>
            <a:ext cx="29260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 simplifié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5"/>
          <p:cNvSpPr/>
          <p:nvPr/>
        </p:nvSpPr>
        <p:spPr>
          <a:xfrm>
            <a:off x="3383280" y="2039112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5 994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5"/>
          <p:cNvSpPr/>
          <p:nvPr/>
        </p:nvSpPr>
        <p:spPr>
          <a:xfrm>
            <a:off x="5029200" y="2039112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4 351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15"/>
          <p:cNvSpPr/>
          <p:nvPr/>
        </p:nvSpPr>
        <p:spPr>
          <a:xfrm>
            <a:off x="6675120" y="2039112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5,7 %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15"/>
          <p:cNvSpPr/>
          <p:nvPr/>
        </p:nvSpPr>
        <p:spPr>
          <a:xfrm>
            <a:off x="8321040" y="2039112"/>
            <a:ext cx="1371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+0,70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5"/>
          <p:cNvSpPr/>
          <p:nvPr/>
        </p:nvSpPr>
        <p:spPr>
          <a:xfrm>
            <a:off x="9692640" y="2039112"/>
            <a:ext cx="20116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-0,05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5"/>
          <p:cNvSpPr/>
          <p:nvPr/>
        </p:nvSpPr>
        <p:spPr>
          <a:xfrm>
            <a:off x="457200" y="2478024"/>
            <a:ext cx="11247120" cy="438912"/>
          </a:xfrm>
          <a:prstGeom prst="rect">
            <a:avLst/>
          </a:prstGeom>
          <a:solidFill>
            <a:srgbClr val="EDF4F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15"/>
          <p:cNvSpPr/>
          <p:nvPr/>
        </p:nvSpPr>
        <p:spPr>
          <a:xfrm>
            <a:off x="457200" y="2478024"/>
            <a:ext cx="29260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1" i="0" lang="en-US" sz="124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Kenza indexé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5"/>
          <p:cNvSpPr/>
          <p:nvPr/>
        </p:nvSpPr>
        <p:spPr>
          <a:xfrm>
            <a:off x="3383280" y="2478024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5 330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5"/>
          <p:cNvSpPr/>
          <p:nvPr/>
        </p:nvSpPr>
        <p:spPr>
          <a:xfrm>
            <a:off x="5029200" y="2478024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4 115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15"/>
          <p:cNvSpPr/>
          <p:nvPr/>
        </p:nvSpPr>
        <p:spPr>
          <a:xfrm>
            <a:off x="6675120" y="2478024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5,5 %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5"/>
          <p:cNvSpPr/>
          <p:nvPr/>
        </p:nvSpPr>
        <p:spPr>
          <a:xfrm>
            <a:off x="8321040" y="2478024"/>
            <a:ext cx="1371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+0,77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5"/>
          <p:cNvSpPr/>
          <p:nvPr/>
        </p:nvSpPr>
        <p:spPr>
          <a:xfrm>
            <a:off x="9692640" y="2478024"/>
            <a:ext cx="20116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+0,66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5"/>
          <p:cNvSpPr/>
          <p:nvPr/>
        </p:nvSpPr>
        <p:spPr>
          <a:xfrm>
            <a:off x="457200" y="2916936"/>
            <a:ext cx="1124712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15"/>
          <p:cNvSpPr/>
          <p:nvPr/>
        </p:nvSpPr>
        <p:spPr>
          <a:xfrm>
            <a:off x="457200" y="2916936"/>
            <a:ext cx="29260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 simplifié combiné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5"/>
          <p:cNvSpPr/>
          <p:nvPr/>
        </p:nvSpPr>
        <p:spPr>
          <a:xfrm>
            <a:off x="3383280" y="2916936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6 086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15"/>
          <p:cNvSpPr/>
          <p:nvPr/>
        </p:nvSpPr>
        <p:spPr>
          <a:xfrm>
            <a:off x="5029200" y="2916936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4 742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5"/>
          <p:cNvSpPr/>
          <p:nvPr/>
        </p:nvSpPr>
        <p:spPr>
          <a:xfrm>
            <a:off x="6675120" y="2916936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6,4 %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15"/>
          <p:cNvSpPr/>
          <p:nvPr/>
        </p:nvSpPr>
        <p:spPr>
          <a:xfrm>
            <a:off x="8321040" y="2916936"/>
            <a:ext cx="1371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+0,69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5"/>
          <p:cNvSpPr/>
          <p:nvPr/>
        </p:nvSpPr>
        <p:spPr>
          <a:xfrm>
            <a:off x="9692640" y="2916936"/>
            <a:ext cx="20116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+0,33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82;p15"/>
          <p:cNvSpPr/>
          <p:nvPr/>
        </p:nvSpPr>
        <p:spPr>
          <a:xfrm>
            <a:off x="457200" y="3355848"/>
            <a:ext cx="11247120" cy="438912"/>
          </a:xfrm>
          <a:prstGeom prst="rect">
            <a:avLst/>
          </a:prstGeom>
          <a:solidFill>
            <a:srgbClr val="E5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83;p15"/>
          <p:cNvSpPr/>
          <p:nvPr/>
        </p:nvSpPr>
        <p:spPr>
          <a:xfrm>
            <a:off x="457200" y="3355848"/>
            <a:ext cx="29260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 simplifié indexé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84;p15"/>
          <p:cNvSpPr/>
          <p:nvPr/>
        </p:nvSpPr>
        <p:spPr>
          <a:xfrm>
            <a:off x="3383280" y="3355848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5 555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85;p15"/>
          <p:cNvSpPr/>
          <p:nvPr/>
        </p:nvSpPr>
        <p:spPr>
          <a:xfrm>
            <a:off x="5029200" y="3355848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4 150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86;p15"/>
          <p:cNvSpPr/>
          <p:nvPr/>
        </p:nvSpPr>
        <p:spPr>
          <a:xfrm>
            <a:off x="6675120" y="3355848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5,5 %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87;p15"/>
          <p:cNvSpPr/>
          <p:nvPr/>
        </p:nvSpPr>
        <p:spPr>
          <a:xfrm>
            <a:off x="8321040" y="3355848"/>
            <a:ext cx="1371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+0,75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388;p15"/>
          <p:cNvSpPr/>
          <p:nvPr/>
        </p:nvSpPr>
        <p:spPr>
          <a:xfrm>
            <a:off x="9692640" y="3355848"/>
            <a:ext cx="20116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+0,31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15"/>
          <p:cNvSpPr/>
          <p:nvPr/>
        </p:nvSpPr>
        <p:spPr>
          <a:xfrm>
            <a:off x="457200" y="393192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200"/>
              <a:buFont typeface="Calibri"/>
              <a:buNone/>
            </a:pPr>
            <a:r>
              <a:rPr b="0" i="0" lang="en-US" sz="10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Backtest glissant : calage initial de 10 ans, puis toutes les coupures jusqu'en 2019, horizon 5 ans — environ 19 fenêtres. RMSE, MAE et MAPE sont ceux du glissant ; la dernière colonne reprend la diapositive précédente (calage unique 1990-2011, horizon jusqu'à 8 ans).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5"/>
          <p:cNvSpPr/>
          <p:nvPr/>
        </p:nvSpPr>
        <p:spPr>
          <a:xfrm>
            <a:off x="457200" y="4389120"/>
            <a:ext cx="11247120" cy="1463040"/>
          </a:xfrm>
          <a:prstGeom prst="roundRect">
            <a:avLst>
              <a:gd fmla="val 5000" name="adj"/>
            </a:avLst>
          </a:prstGeom>
          <a:solidFill>
            <a:srgbClr val="EDF4F7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" name="Google Shape;391;p15"/>
          <p:cNvSpPr/>
          <p:nvPr/>
        </p:nvSpPr>
        <p:spPr>
          <a:xfrm>
            <a:off x="731520" y="4572000"/>
            <a:ext cx="10698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1400"/>
              <a:buFont typeface="Arial"/>
              <a:buNone/>
            </a:pPr>
            <a:r>
              <a:rPr b="1" i="0" lang="en-US" sz="15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Interprétation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5"/>
          <p:cNvSpPr/>
          <p:nvPr/>
        </p:nvSpPr>
        <p:spPr>
          <a:xfrm>
            <a:off x="731520" y="4937760"/>
            <a:ext cx="106984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Le classement de la diapositive précédente tient à une seule coupure : un calage 1990-2011, puis huit années prédites d'affilée. En moyennant toutes les coupures possibles à horizon 5 ans, les cinq variantes expliquent 60 à 77 % de la variance hors échantillon, pour 5,5 à 6,4 % d'erreur relative moyenne. Les deux mesures sont justes : la seconde est plus robuste, mais porte sur un horizon plus court. Aucune des deux ne juge un modèle sur les données qui l'ont calibré.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5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hème Offic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