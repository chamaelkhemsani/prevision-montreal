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DM Sans" panose="020F0502020204030204" pitchFamily="2" charset="0"/>
      <p:regular r:id="rId24"/>
      <p:bold r:id="rId25"/>
      <p:italic r:id="rId26"/>
      <p:boldItalic r:id="rId27"/>
    </p:embeddedFont>
    <p:embeddedFont>
      <p:font typeface="DM Sans Medium" panose="020F0502020204030204" pitchFamily="2" charset="0"/>
      <p:regular r:id="rId28"/>
      <p:bold r:id="rId29"/>
      <p:italic r:id="rId30"/>
      <p:boldItalic r:id="rId31"/>
    </p:embeddedFont>
    <p:embeddedFont>
      <p:font typeface="Inter" panose="020B0604020202020204" charset="0"/>
      <p:regular r:id="rId32"/>
      <p:bold r:id="rId33"/>
      <p:italic r:id="rId34"/>
      <p:boldItalic r:id="rId35"/>
    </p:embeddedFont>
    <p:embeddedFont>
      <p:font typeface="Merriweather" panose="020F05020202040302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hf4Mg8n9wYTzt0KAGMkuhUF/IR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7f0c552_0_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f667f0c55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67f0c552_0_1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f667f0c55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6e2a12bd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6e2a12bd2_0_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667f0c552_0_1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g3f667f0c552_0_1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g3f667f0c552_0_1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777240" y="11430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lang="en-US" sz="11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MÉTHODE KENZA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69164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34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Prévision du trafic aérien à long terme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31546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7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Méthode Kenza - Implémentation de la solution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416052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lang="en-US" sz="12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Présenté par : Chama EL KHEMSANI - </a:t>
            </a:r>
            <a:r>
              <a:rPr lang="en-US" sz="1250">
                <a:solidFill>
                  <a:srgbClr val="6F7A84"/>
                </a:solidFill>
              </a:rPr>
              <a:t>Elève</a:t>
            </a:r>
            <a:r>
              <a:rPr lang="en-US" sz="12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 à l</a:t>
            </a:r>
            <a:r>
              <a:rPr lang="en-US" sz="1250">
                <a:solidFill>
                  <a:srgbClr val="6F7A84"/>
                </a:solidFill>
              </a:rPr>
              <a:t>’Ecole Nationale de l’Aviation Civile (ENAC) de Toulouse</a:t>
            </a:r>
            <a:endParaRPr sz="1250" b="0" i="0" u="none" strike="noStrike" cap="none">
              <a:solidFill>
                <a:srgbClr val="6F7A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lang="en-US" sz="12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Tutoré par : Fabian </a:t>
            </a:r>
            <a:r>
              <a:rPr lang="en-US" sz="1250">
                <a:solidFill>
                  <a:srgbClr val="6F7A84"/>
                </a:solidFill>
              </a:rPr>
              <a:t>BASTIN - Professeur en informatique et recherche opérationnelle à l'Université de Montréal</a:t>
            </a:r>
            <a:endParaRPr sz="1250" b="0" i="0" u="none" strike="noStrike" cap="none">
              <a:solidFill>
                <a:srgbClr val="6F7A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lang="en-US" sz="12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Avec l’aide de : Daniel </a:t>
            </a:r>
            <a:r>
              <a:rPr lang="en-US" sz="1250">
                <a:solidFill>
                  <a:srgbClr val="6F7A84"/>
                </a:solidFill>
              </a:rPr>
              <a:t>SALLIER - Market Expert</a:t>
            </a:r>
            <a:endParaRPr sz="1250" b="0" i="0" u="none" strike="noStrike" cap="none">
              <a:solidFill>
                <a:srgbClr val="6F7A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ORDRE DU JOUR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Plan de la présentation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1887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85800" y="14173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54480" y="14173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Objectifs &amp; contexte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286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800" y="25146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54480" y="25146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Méthode Kenza - fondements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3832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36118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554480" y="36118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Avantages de la méthode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4480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85800" y="4709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4480" y="4709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Données nécessaires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17920" y="11887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46520" y="14173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315200" y="14173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Implémentation &amp; démonstration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2286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46520" y="25146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0" y="25146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Résultats historiques &amp; variantes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0" y="33832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46520" y="36118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315200" y="36118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Scénarios &amp; arbitrages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17920" y="4480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46520" y="4709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200"/>
              <a:buFont typeface="Arial"/>
              <a:buNone/>
            </a:pPr>
            <a:r>
              <a:rPr lang="en-US" sz="21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15200" y="47091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6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Décisions attendues &amp; prochaines étapes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01  ·  OBJECTIFS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Objectifs de la présentation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1430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22960" y="1280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Présenter la méthode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Kenza, ses fondements économiques et mathématiques, et son adéquation avec les besoins de l'aéroport.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22860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22960" y="2423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Implémentation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Outil déjà fonctionnel, avec interface et exports multi-formats.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34290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2960" y="3566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À valider avec l'exploitant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Données disponibles, hypothèses macro, scénarios (central / haut / bas), contraintes de capacité.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45720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Obtenir les orientations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Finaliser le calibrage et livrer les prévisions opérationnelles à horizon 20-30 ans.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01  ·  CONTEXTE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Problème à traiter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10972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85800" y="123444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Un exploitant aéroportuaire doit planifier ses infrastructures (terminal, pistes, parkings), ses financements et ses stratégies commerciales à un horizon de 20 à 30 ans.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25603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1520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Explicable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31520" y="3246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Les décideurs doivent comprendre la construction du modèle.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217920" y="25603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Paramétrable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92240" y="324612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Tester différents scénarios (PIB, population, prix, concurrence).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41148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31520" y="43434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Utilisable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31520" y="48006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Fournir ordres de grandeur, tendances et fourchettes de confiance.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17920" y="41148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92240" y="43434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18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Adaptée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92240" y="48006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Aux données disponibles et aux spécificités locales.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f667f0c552_0_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000" y="2603897"/>
            <a:ext cx="35876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f667f0c552_0_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2150" y="2603897"/>
            <a:ext cx="3587799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667f0c552_0_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0450" y="2603897"/>
            <a:ext cx="358765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67f0c552_0_3"/>
          <p:cNvSpPr txBox="1"/>
          <p:nvPr/>
        </p:nvSpPr>
        <p:spPr>
          <a:xfrm>
            <a:off x="523875" y="428625"/>
            <a:ext cx="1114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2B6F7F"/>
                </a:solidFill>
              </a:rPr>
              <a:t>02 · MÉTHODE KENZA</a:t>
            </a:r>
            <a:endParaRPr/>
          </a:p>
        </p:txBody>
      </p:sp>
      <p:sp>
        <p:nvSpPr>
          <p:cNvPr id="105" name="Google Shape;105;g3f667f0c552_0_3"/>
          <p:cNvSpPr txBox="1"/>
          <p:nvPr/>
        </p:nvSpPr>
        <p:spPr>
          <a:xfrm>
            <a:off x="523875" y="638175"/>
            <a:ext cx="11668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7324D"/>
                </a:solidFill>
              </a:rPr>
              <a:t>Mécanisme et logique comportementale</a:t>
            </a:r>
            <a:endParaRPr/>
          </a:p>
        </p:txBody>
      </p:sp>
      <p:sp>
        <p:nvSpPr>
          <p:cNvPr id="106" name="Google Shape;106;g3f667f0c552_0_3"/>
          <p:cNvSpPr txBox="1"/>
          <p:nvPr/>
        </p:nvSpPr>
        <p:spPr>
          <a:xfrm>
            <a:off x="1165007" y="2842025"/>
            <a:ext cx="2267536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Envie de voyager</a:t>
            </a:r>
            <a:endParaRPr dirty="0"/>
          </a:p>
        </p:txBody>
      </p:sp>
      <p:sp>
        <p:nvSpPr>
          <p:cNvPr id="107" name="Google Shape;107;g3f667f0c552_0_3"/>
          <p:cNvSpPr txBox="1"/>
          <p:nvPr/>
        </p:nvSpPr>
        <p:spPr>
          <a:xfrm>
            <a:off x="584275" y="3194450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Propension à la mobilité</a:t>
            </a:r>
            <a:endParaRPr/>
          </a:p>
        </p:txBody>
      </p:sp>
      <p:sp>
        <p:nvSpPr>
          <p:cNvPr id="108" name="Google Shape;108;g3f667f0c552_0_3"/>
          <p:cNvSpPr txBox="1"/>
          <p:nvPr/>
        </p:nvSpPr>
        <p:spPr>
          <a:xfrm>
            <a:off x="724025" y="3489722"/>
            <a:ext cx="31875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Déterminée par les facteurs culturels, touristiques et professionnels. Traduit la capacité d'une population à transformer son potentiel économique en voyages réels.</a:t>
            </a:r>
            <a:endParaRPr/>
          </a:p>
        </p:txBody>
      </p:sp>
      <p:sp>
        <p:nvSpPr>
          <p:cNvPr id="109" name="Google Shape;109;g3f667f0c552_0_3"/>
          <p:cNvSpPr txBox="1"/>
          <p:nvPr/>
        </p:nvSpPr>
        <p:spPr>
          <a:xfrm>
            <a:off x="4272021" y="2842025"/>
            <a:ext cx="3587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Prix absolu</a:t>
            </a:r>
            <a:endParaRPr/>
          </a:p>
        </p:txBody>
      </p:sp>
      <p:sp>
        <p:nvSpPr>
          <p:cNvPr id="110" name="Google Shape;110;g3f667f0c552_0_3"/>
          <p:cNvSpPr txBox="1"/>
          <p:nvPr/>
        </p:nvSpPr>
        <p:spPr>
          <a:xfrm>
            <a:off x="4302025" y="3194450"/>
            <a:ext cx="358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Barrière immédiate à l'achat</a:t>
            </a:r>
            <a:endParaRPr/>
          </a:p>
        </p:txBody>
      </p:sp>
      <p:sp>
        <p:nvSpPr>
          <p:cNvPr id="111" name="Google Shape;111;g3f667f0c552_0_3"/>
          <p:cNvSpPr txBox="1"/>
          <p:nvPr/>
        </p:nvSpPr>
        <p:spPr>
          <a:xfrm>
            <a:off x="4502175" y="3489722"/>
            <a:ext cx="31878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Effet direct du montant brut du billet (ex. 1 000 $). Une hausse de ce coût décourage la dépense, reporte le déplacement ou détourne vers d'autres destinations.</a:t>
            </a:r>
            <a:endParaRPr/>
          </a:p>
        </p:txBody>
      </p:sp>
      <p:sp>
        <p:nvSpPr>
          <p:cNvPr id="112" name="Google Shape;112;g3f667f0c552_0_3"/>
          <p:cNvSpPr txBox="1"/>
          <p:nvPr/>
        </p:nvSpPr>
        <p:spPr>
          <a:xfrm>
            <a:off x="8080450" y="2842025"/>
            <a:ext cx="3587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Prix relatif</a:t>
            </a:r>
            <a:endParaRPr/>
          </a:p>
        </p:txBody>
      </p:sp>
      <p:sp>
        <p:nvSpPr>
          <p:cNvPr id="113" name="Google Shape;113;g3f667f0c552_0_3"/>
          <p:cNvSpPr txBox="1"/>
          <p:nvPr/>
        </p:nvSpPr>
        <p:spPr>
          <a:xfrm>
            <a:off x="8080400" y="3194450"/>
            <a:ext cx="358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Poids sur le revenu disponible</a:t>
            </a:r>
            <a:endParaRPr/>
          </a:p>
        </p:txBody>
      </p:sp>
      <p:sp>
        <p:nvSpPr>
          <p:cNvPr id="114" name="Google Shape;114;g3f667f0c552_0_3"/>
          <p:cNvSpPr txBox="1"/>
          <p:nvPr/>
        </p:nvSpPr>
        <p:spPr>
          <a:xfrm>
            <a:off x="8280475" y="3489722"/>
            <a:ext cx="31875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 du revenu sacrifiée pour voyager. Un même billet peut être accessible aux ménages aisés et prohibitif pour les bas revenus. Moteur principal de l'accessibilité.</a:t>
            </a:r>
            <a:endParaRPr/>
          </a:p>
        </p:txBody>
      </p:sp>
      <p:sp>
        <p:nvSpPr>
          <p:cNvPr id="115" name="Google Shape;115;g3f667f0c552_0_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f667f0c552_0_1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4539704"/>
            <a:ext cx="11144250" cy="1889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f667f0c552_0_1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950987"/>
            <a:ext cx="3587650" cy="19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f667f0c552_0_1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025" y="1950987"/>
            <a:ext cx="3587799" cy="19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f667f0c552_0_1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0325" y="1950987"/>
            <a:ext cx="3587650" cy="19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f667f0c552_0_1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5130254"/>
            <a:ext cx="3429000" cy="1060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f667f0c552_0_1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1500" y="5130254"/>
            <a:ext cx="3429000" cy="1060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667f0c552_0_1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62900" y="5130254"/>
            <a:ext cx="3429000" cy="1060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f667f0c552_0_1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74000" y="2217687"/>
            <a:ext cx="24003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667f0c552_0_118"/>
          <p:cNvSpPr txBox="1"/>
          <p:nvPr/>
        </p:nvSpPr>
        <p:spPr>
          <a:xfrm>
            <a:off x="523875" y="428625"/>
            <a:ext cx="1114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2B6F7F"/>
                </a:solidFill>
              </a:rPr>
              <a:t>02 · MÉTHODE</a:t>
            </a:r>
            <a:r>
              <a:rPr lang="en-US" sz="975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>
                <a:solidFill>
                  <a:srgbClr val="2B6F7F"/>
                </a:solidFill>
              </a:rPr>
              <a:t>KENZA</a:t>
            </a:r>
            <a:endParaRPr/>
          </a:p>
        </p:txBody>
      </p:sp>
      <p:sp>
        <p:nvSpPr>
          <p:cNvPr id="129" name="Google Shape;129;g3f667f0c552_0_118"/>
          <p:cNvSpPr txBox="1"/>
          <p:nvPr/>
        </p:nvSpPr>
        <p:spPr>
          <a:xfrm>
            <a:off x="523875" y="638175"/>
            <a:ext cx="11668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7324D"/>
                </a:solidFill>
              </a:rPr>
              <a:t>Une méthode éprouvée et adoptée par des acteurs majeurs</a:t>
            </a:r>
            <a:endParaRPr/>
          </a:p>
        </p:txBody>
      </p:sp>
      <p:sp>
        <p:nvSpPr>
          <p:cNvPr id="130" name="Google Shape;130;g3f667f0c552_0_118"/>
          <p:cNvSpPr txBox="1"/>
          <p:nvPr/>
        </p:nvSpPr>
        <p:spPr>
          <a:xfrm>
            <a:off x="800100" y="4777829"/>
            <a:ext cx="10591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 standard de marché validé par la pratique industrielle</a:t>
            </a:r>
            <a:endParaRPr/>
          </a:p>
        </p:txBody>
      </p:sp>
      <p:sp>
        <p:nvSpPr>
          <p:cNvPr id="131" name="Google Shape;131;g3f667f0c552_0_118"/>
          <p:cNvSpPr txBox="1"/>
          <p:nvPr/>
        </p:nvSpPr>
        <p:spPr>
          <a:xfrm>
            <a:off x="573125" y="2757817"/>
            <a:ext cx="358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Constructeurs aéronautiques</a:t>
            </a:r>
            <a:endParaRPr/>
          </a:p>
        </p:txBody>
      </p:sp>
      <p:sp>
        <p:nvSpPr>
          <p:cNvPr id="132" name="Google Shape;132;g3f667f0c552_0_118"/>
          <p:cNvSpPr txBox="1"/>
          <p:nvPr/>
        </p:nvSpPr>
        <p:spPr>
          <a:xfrm>
            <a:off x="723900" y="3084462"/>
            <a:ext cx="3187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Utilisée pour calibrer les études de marché globales, modéliser la demande long terme d'aéronefs et anticiper le dimensionnement des flottes mondiales.</a:t>
            </a:r>
            <a:endParaRPr/>
          </a:p>
        </p:txBody>
      </p:sp>
      <p:sp>
        <p:nvSpPr>
          <p:cNvPr id="133" name="Google Shape;133;g3f667f0c552_0_118"/>
          <p:cNvSpPr txBox="1"/>
          <p:nvPr/>
        </p:nvSpPr>
        <p:spPr>
          <a:xfrm>
            <a:off x="4385974" y="2768992"/>
            <a:ext cx="350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Gestionnaires d'aéroports</a:t>
            </a:r>
            <a:endParaRPr/>
          </a:p>
        </p:txBody>
      </p:sp>
      <p:sp>
        <p:nvSpPr>
          <p:cNvPr id="134" name="Google Shape;134;g3f667f0c552_0_118"/>
          <p:cNvSpPr txBox="1"/>
          <p:nvPr/>
        </p:nvSpPr>
        <p:spPr>
          <a:xfrm>
            <a:off x="4502050" y="3084462"/>
            <a:ext cx="31878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Adoptée par le Groupe ADP pour planifier les capacités terminales, orienter les investissements d'infrastructures et projeter les flux de passagers.</a:t>
            </a:r>
            <a:endParaRPr/>
          </a:p>
        </p:txBody>
      </p:sp>
      <p:sp>
        <p:nvSpPr>
          <p:cNvPr id="135" name="Google Shape;135;g3f667f0c552_0_118"/>
          <p:cNvSpPr txBox="1"/>
          <p:nvPr/>
        </p:nvSpPr>
        <p:spPr>
          <a:xfrm>
            <a:off x="8144950" y="2808225"/>
            <a:ext cx="350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Compagnies aériennes</a:t>
            </a:r>
            <a:endParaRPr/>
          </a:p>
        </p:txBody>
      </p:sp>
      <p:sp>
        <p:nvSpPr>
          <p:cNvPr id="136" name="Google Shape;136;g3f667f0c552_0_118"/>
          <p:cNvSpPr txBox="1"/>
          <p:nvPr/>
        </p:nvSpPr>
        <p:spPr>
          <a:xfrm>
            <a:off x="8280350" y="3084462"/>
            <a:ext cx="3187500" cy="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Déployée opérationnellement à travers le monde pour l'évaluation de potentiel d'ouverture de lignes, l'analyse tarifaire et la stratégie de réseau.</a:t>
            </a:r>
            <a:endParaRPr/>
          </a:p>
        </p:txBody>
      </p:sp>
      <p:pic>
        <p:nvPicPr>
          <p:cNvPr id="137" name="Google Shape;137;g3f667f0c552_0_1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04813" y="2193119"/>
            <a:ext cx="6000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667f0c552_0_1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47763" y="2134836"/>
            <a:ext cx="682823" cy="39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667f0c552_0_1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72460" y="2193119"/>
            <a:ext cx="446782" cy="39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667f0c552_0_118"/>
          <p:cNvSpPr txBox="1"/>
          <p:nvPr/>
        </p:nvSpPr>
        <p:spPr>
          <a:xfrm>
            <a:off x="1366425" y="5291800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Déjà appliqué par tout l’écosystème</a:t>
            </a:r>
            <a:endParaRPr/>
          </a:p>
        </p:txBody>
      </p:sp>
      <p:sp>
        <p:nvSpPr>
          <p:cNvPr id="141" name="Google Shape;141;g3f667f0c552_0_118"/>
          <p:cNvSpPr txBox="1"/>
          <p:nvPr/>
        </p:nvSpPr>
        <p:spPr>
          <a:xfrm>
            <a:off x="981075" y="5530304"/>
            <a:ext cx="30672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Partagée par l'ensemble des maillons de la chaîne (avions, aéroports, lignes), garantissant une vision alignée du marché.</a:t>
            </a:r>
            <a:endParaRPr/>
          </a:p>
        </p:txBody>
      </p:sp>
      <p:sp>
        <p:nvSpPr>
          <p:cNvPr id="142" name="Google Shape;142;g3f667f0c552_0_118"/>
          <p:cNvSpPr txBox="1"/>
          <p:nvPr/>
        </p:nvSpPr>
        <p:spPr>
          <a:xfrm>
            <a:off x="4868031" y="5273125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Méthode validée </a:t>
            </a:r>
            <a:endParaRPr/>
          </a:p>
        </p:txBody>
      </p:sp>
      <p:sp>
        <p:nvSpPr>
          <p:cNvPr id="143" name="Google Shape;143;g3f667f0c552_0_118"/>
          <p:cNvSpPr txBox="1"/>
          <p:nvPr/>
        </p:nvSpPr>
        <p:spPr>
          <a:xfrm>
            <a:off x="4562475" y="5530304"/>
            <a:ext cx="30672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Validation empirique continue sur des décennies de données de trafic réel face aux évolutions macroéconomiques.</a:t>
            </a:r>
            <a:endParaRPr/>
          </a:p>
        </p:txBody>
      </p:sp>
      <p:sp>
        <p:nvSpPr>
          <p:cNvPr id="144" name="Google Shape;144;g3f667f0c552_0_118"/>
          <p:cNvSpPr txBox="1"/>
          <p:nvPr/>
        </p:nvSpPr>
        <p:spPr>
          <a:xfrm>
            <a:off x="8449281" y="5291799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Outil d’a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ide à la décision</a:t>
            </a:r>
            <a:endParaRPr/>
          </a:p>
        </p:txBody>
      </p:sp>
      <p:sp>
        <p:nvSpPr>
          <p:cNvPr id="145" name="Google Shape;145;g3f667f0c552_0_118"/>
          <p:cNvSpPr txBox="1"/>
          <p:nvPr/>
        </p:nvSpPr>
        <p:spPr>
          <a:xfrm>
            <a:off x="8143875" y="5530304"/>
            <a:ext cx="30672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 outil d'aide à la décision stratégique indispensable pour sécuriser les investissements lourds de l'aéronautique.</a:t>
            </a:r>
            <a:endParaRPr/>
          </a:p>
        </p:txBody>
      </p:sp>
      <p:pic>
        <p:nvPicPr>
          <p:cNvPr id="146" name="Google Shape;146;g3f667f0c552_0_1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1075" y="5273129"/>
            <a:ext cx="2381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f667f0c552_0_1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62475" y="5273129"/>
            <a:ext cx="2667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f667f0c552_0_1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43875" y="5273129"/>
            <a:ext cx="266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667f0c552_0_1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02  ·  MÉTHODE KENZA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>
                <a:solidFill>
                  <a:srgbClr val="17324D"/>
                </a:solidFill>
              </a:rPr>
              <a:t>Fondements de la méthode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Développée par Daniel Sallier (Aéroports de Paris, Airbus).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15544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Arial"/>
              <a:buNone/>
            </a:pPr>
            <a:r>
              <a:rPr lang="en-US" sz="23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P(t)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008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008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Taille du marché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297680" y="15544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Arial"/>
              <a:buNone/>
            </a:pPr>
            <a:r>
              <a:rPr lang="en-US" sz="23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Y(t)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8056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Revenu / PIB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48056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Capacité d'achat par habitant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138160" y="15544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321040" y="17373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Arial"/>
              <a:buNone/>
            </a:pPr>
            <a:r>
              <a:rPr lang="en-US" sz="23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π(t)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32104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Prix relatif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32104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Prix billet / PIB par habitant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47472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Formule fondamentale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31520" y="411480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600"/>
              <a:buFont typeface="Arial"/>
              <a:buNone/>
            </a:pPr>
            <a:r>
              <a:rPr lang="en-US" sz="25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D(t)  =  P(t)  ×  K₁  ×  F*(K₂ × π(t))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où F* est la fonction de survie des revenus normalisés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Prix relatif très bas → saturation  ·  Prix relatif très élevé → demande nulle</a:t>
            </a:r>
            <a:endParaRPr sz="135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>
                <a:solidFill>
                  <a:srgbClr val="2F3A44"/>
                </a:solidFill>
              </a:rPr>
              <a:t>K₁ : constante agrégée, multiplicateur de la population (0,8193)</a:t>
            </a:r>
            <a:endParaRPr sz="1350">
              <a:solidFill>
                <a:srgbClr val="2F3A44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>
                <a:solidFill>
                  <a:srgbClr val="2F3A44"/>
                </a:solidFill>
              </a:rPr>
              <a:t>K₂ : facteur d'échelle du prix normalisé (30)</a:t>
            </a:r>
            <a:endParaRPr sz="1350">
              <a:solidFill>
                <a:srgbClr val="2F3A44"/>
              </a:solidFill>
            </a:endParaRPr>
          </a:p>
        </p:txBody>
      </p:sp>
      <p:sp>
        <p:nvSpPr>
          <p:cNvPr id="174" name="Google Shape;174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02  ·  MÉTHODE KENZA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Formes mathématiques utilisées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72438" y="1954988"/>
            <a:ext cx="5486400" cy="2926200"/>
          </a:xfrm>
          <a:prstGeom prst="roundRect">
            <a:avLst>
              <a:gd name="adj" fmla="val 3125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01038" y="2137868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Distribution des revenus (Coste)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01038" y="3372307"/>
            <a:ext cx="5029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avec a &gt; 0, b &gt; 0, c &lt; 0, d &gt; 0 ; F* est bornée à [0;1] (a = 1,1572 en référence)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Prix normalisé 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π(t) = scale × Prix_billet(t) / PIB_per_capita(t)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233158" y="1954988"/>
            <a:ext cx="5486400" cy="2926200"/>
          </a:xfrm>
          <a:prstGeom prst="roundRect">
            <a:avLst>
              <a:gd name="adj" fmla="val 3125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461758" y="2137868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Variantes implémentées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61758" y="264078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▸  Kenza complet · Kenza simplifié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461758" y="296082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▸  Kenza simplifié combiné · Kenza simplifié indexé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461758" y="328086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▸  Kenza indexé      (probabiliste : non disponible)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6" title="CodeCogsEq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200" y="2617938"/>
            <a:ext cx="4436880" cy="6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03  ·  AVANTAGES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Pourquoi la méthode Kenza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1188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85800" y="1463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Interprétabilité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8580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Chaque paramètre (élasticité-revenu, élasticité-prix) a un sens économique clair et défendable.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297680" y="1188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26280" y="1463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Transparence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52628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Hypothèses explicites ; on peut tracer l'influence de chaque variable sur le résultat.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138160" y="1188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366760" y="1463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Flexibilité scénarique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36676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Modifications aisées de croissance PIB, population, prix, chocs, contraintes de capacité.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57200" y="3474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85800" y="3749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Adaptation long terme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85800" y="4297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Structure stable des distributions de revenus ; élasticités issues du modèle, pas d'extrapolation pure.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297680" y="3474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26280" y="3749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Reconnue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526280" y="4297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Validée sur données réelles (ADP</a:t>
            </a:r>
            <a:r>
              <a:rPr lang="en-US">
                <a:solidFill>
                  <a:srgbClr val="2F3A44"/>
                </a:solidFill>
              </a:rPr>
              <a:t>, Bombardier) et nombreuses applications dans le domaine aéronautiques (aéroports, constructeurs, compagnies aériennes)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138160" y="34747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366760" y="3749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Extensible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366760" y="4297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40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Intégration possible de contraintes de capacité (mouvements, surface terminale, slots).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04  ·  DONNÉES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Données nécessaires au modèle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solidFill>
            <a:srgbClr val="E5E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5720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Colonne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38328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8412480" y="1188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57200" y="16002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year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383280" y="160020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Année (entier)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412480" y="16002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1990, 1991, …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57200" y="21031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57200" y="21031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actual_passengers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383280" y="21031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Trafic annuel total (passagers)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8412480" y="21031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31 000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2606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383280" y="26060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412480" y="26060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6 996 986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57200" y="31089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gdp_per_capita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383280" y="310896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PIB par habitant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412480" y="31089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28 636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57200" y="36118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ticket_price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383280" y="361188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Prix moyen du billet (requis, sauf variantes indexées)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41248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185,00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1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Remarques : période idéale ≥ 20 ans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57200" y="4846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Format recommandé : CSV ou Excel avec colonnes exactes ci-dessus. Segmentation (domestique /  frontalier / international ) fortement souhaitable pour un calibrage plus fin.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  ·  IMPLÉMENTATION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État de l'outil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57200" y="11430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Gestion des données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7240" y="17373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Chargement CSV/Excel, normalisation, validation des colonnes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217920" y="11430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537960" y="1325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Choix du modèle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537960" y="17373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Gestion des variantes Kenza via métadonnées JSON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25146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26974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Calculs et prévisions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7240" y="3108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Calibration, prévisions, et calculs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217920" y="25146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537960" y="26974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Exports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537960" y="3108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Tableau de prévision en CSV ou Excel ; graphique en PDF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57200" y="41148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Stack technique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Langage : Julia 1.10+ (haute performance scientifique)   ·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État : fonctionnel et audité — 253 tests de non-régression, parité vérifiée avec le classeur Excel de référence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Fonctionnalités : chargement fichiers, sélection modèle, réglage paramètres, graphiques, métriques (RMSE, MAE, MAPE, R²), intervalles de confiance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457200" y="22860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  ·  IMPLÉMENTATION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Capture 1 : Interface générale</a:t>
            </a:r>
            <a:endParaRPr sz="4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7818120" y="1234440"/>
            <a:ext cx="3657600" cy="4663440"/>
          </a:xfrm>
          <a:prstGeom prst="roundRect">
            <a:avLst>
              <a:gd name="adj" fmla="val 5263"/>
            </a:avLst>
          </a:prstGeom>
          <a:solidFill>
            <a:srgbClr val="F6F8F9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092440" y="15544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Organisation de l'écran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8092440" y="214884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457200" marR="0" lvl="0" indent="-3124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A44"/>
              </a:buClr>
              <a:buSzPts val="1320"/>
              <a:buFont typeface="Arial"/>
              <a:buChar char="●"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Panneau gauche, de haut en bas : chargement du fichier, période d'entraînement, choix du modèle.</a:t>
            </a:r>
            <a:endParaRPr sz="1400" b="0" i="0" u="none" strike="noStrike" cap="non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5080" lvl="0" indent="-3124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A44"/>
              </a:buClr>
              <a:buSzPts val="1320"/>
              <a:buFont typeface="Arial"/>
              <a:buChar char="●"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Puis l'horizon de prévision et les paramètres du modèle, générés d'après ses métadonnées.</a:t>
            </a:r>
            <a:endParaRPr sz="1400" b="0" i="0" u="none" strike="noStrike" cap="non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24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A44"/>
              </a:buClr>
              <a:buSzPts val="1320"/>
              <a:buFont typeface="Arial"/>
              <a:buChar char="●"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En bas : « Lancer le modèle » et la barre de statut. Panneau droit : onglets « Modèle unique » et « Comparaison ».</a:t>
            </a:r>
            <a:endParaRPr sz="1400" b="0" i="0" u="none" strike="noStrike" cap="none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800" b="0" i="0" u="none" strike="noStrike" cap="none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296" y="1188720"/>
            <a:ext cx="6413847" cy="4617720"/>
          </a:xfrm>
          <a:prstGeom prst="rect">
            <a:avLst/>
          </a:prstGeom>
          <a:noFill/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7" name="Google Shape;287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457200" y="22860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  ·  IMPLÉMENTATION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Capture 2 : Paramètres du modèle</a:t>
            </a:r>
            <a:endParaRPr sz="4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7818120" y="1234440"/>
            <a:ext cx="3657600" cy="4663440"/>
          </a:xfrm>
          <a:prstGeom prst="roundRect">
            <a:avLst>
              <a:gd name="adj" fmla="val 5263"/>
            </a:avLst>
          </a:prstGeom>
          <a:solidFill>
            <a:srgbClr val="F6F8F9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distribution_a :</a:t>
            </a:r>
            <a:r>
              <a:rPr lang="en-US" sz="12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 Amplitude maximale de la courbe de pénétration du marché.</a:t>
            </a:r>
            <a:endParaRPr sz="122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distribution_b </a:t>
            </a:r>
            <a:r>
              <a:rPr lang="en-US" sz="12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: Décalage de la courbe de pénétration selon le niveau de richesse.</a:t>
            </a:r>
            <a:endParaRPr sz="122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kenza_k1 : constante agrégée K1 de la loi, multiplicateur de la population.</a:t>
            </a:r>
            <a:endParaRPr sz="122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kenza_k2 : seuil de revenu normalisé K2, échelle du rapport prix du billet / PIB par habitant.</a:t>
            </a:r>
            <a:endParaRPr sz="122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curve_c : coefficient c de la courbe logistique (niveau global).</a:t>
            </a:r>
            <a:endParaRPr sz="122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220" b="1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curve_d : exposant d du prix normalisé dans la courbe logistique.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8092440" y="1425955"/>
            <a:ext cx="3108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Paramètres modifiables — noms actuels ; la capture ci-contre montre les anciens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425957"/>
            <a:ext cx="6720840" cy="4143245"/>
          </a:xfrm>
          <a:prstGeom prst="rect">
            <a:avLst/>
          </a:prstGeom>
          <a:noFill/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8" name="Google Shape;298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457200" y="22860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  ·  IMPLÉMENTATION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Capture 3 : Résultat d’un modèle</a:t>
            </a:r>
            <a:endParaRPr sz="4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7818125" y="1234450"/>
            <a:ext cx="3876900" cy="4663500"/>
          </a:xfrm>
          <a:prstGeom prst="roundRect">
            <a:avLst>
              <a:gd name="adj" fmla="val 5263"/>
            </a:avLst>
          </a:prstGeom>
          <a:solidFill>
            <a:srgbClr val="F6F8F9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092440" y="15544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Métriques recalculées — la capture ci-contre date de la version antérieure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896052" y="2094013"/>
            <a:ext cx="3876900" cy="3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265430" marR="2454275" lvl="0" indent="-2533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RMSE : 6 024 (hors échantillon, 2012-2019).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56349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MAE : 4 671.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256349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MAPE : 5,3 %.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R² hors échantillon : 0,656.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rPr lang="en-US" sz="132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Graphique : historique (points) et prévision (courbe), encadrée d'une bande ±20 % — forfait indicatif, non statistique.</a:t>
            </a:r>
            <a:endParaRPr sz="1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303455"/>
            <a:ext cx="6720840" cy="4388249"/>
          </a:xfrm>
          <a:prstGeom prst="rect">
            <a:avLst/>
          </a:prstGeom>
          <a:noFill/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0" name="Google Shape;310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457200" y="22860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05  ·  IMPLÉMENTATION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Capture 4 : Comparaison des modèles</a:t>
            </a:r>
            <a:endParaRPr sz="4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7818120" y="1234440"/>
            <a:ext cx="3657600" cy="4663440"/>
          </a:xfrm>
          <a:prstGeom prst="roundRect">
            <a:avLst>
              <a:gd name="adj" fmla="val 5263"/>
            </a:avLst>
          </a:prstGeom>
          <a:solidFill>
            <a:srgbClr val="F6F8F9"/>
          </a:solidFill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8092440" y="15544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Nature de la bande affichée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092475" y="2781363"/>
            <a:ext cx="31089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304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A44"/>
              </a:buClr>
              <a:buSzPts val="1260"/>
              <a:buFont typeface="Arial"/>
              <a:buChar char="●"/>
            </a:pPr>
            <a:r>
              <a:rPr lang="en-US" sz="126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Exemple 2030 : centrale 96 982, bande [77 585 ; 116 378] — soit exactement ±20 %, largeur fixée d'avance.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508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A44"/>
              </a:buClr>
              <a:buSzPts val="1260"/>
              <a:buFont typeface="Arial"/>
              <a:buChar char="●"/>
            </a:pPr>
            <a:r>
              <a:rPr lang="en-US" sz="126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La bande ne mesure pas l'incertitude : sa largeur ne dépend ni des données ni de la qualité de l'ajustement. Scénarios « bas » et</a:t>
            </a:r>
            <a:endParaRPr sz="1260" b="0" i="0" u="none" strike="noStrike" cap="none">
              <a:solidFill>
                <a:srgbClr val="2F3A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lang="en-US" sz="126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« haut » basés sur des hypothèses économiques : à déterminer.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05" y="1188720"/>
            <a:ext cx="6610429" cy="4617720"/>
          </a:xfrm>
          <a:prstGeom prst="rect">
            <a:avLst/>
          </a:prstGeom>
          <a:noFill/>
          <a:ln w="10150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2" name="Google Shape;322;p1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06  ·  RÉSULTATS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Résultats sur données de test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lang="en-US" sz="12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Jeu d'exemple : sample.csv (série synthétique)   ·   Modèle : Kenza indexé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57200" y="1554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94360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800"/>
              <a:buFont typeface="Arial"/>
              <a:buNone/>
            </a:pPr>
            <a:r>
              <a:rPr lang="en-US" sz="30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6 024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9436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RMSE (passagers)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383280" y="1554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3520440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800"/>
              <a:buFont typeface="Arial"/>
              <a:buNone/>
            </a:pPr>
            <a:r>
              <a:rPr lang="en-US" sz="30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4 671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52044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MAE (passagers)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309360" y="1554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6446520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2800"/>
              <a:buFont typeface="Arial"/>
              <a:buNone/>
            </a:pPr>
            <a:r>
              <a:rPr lang="en-US" sz="30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5,3 %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644652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9235440" y="1554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372600" y="17373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800"/>
              <a:buFont typeface="Arial"/>
              <a:buNone/>
            </a:pPr>
            <a:r>
              <a:rPr lang="en-US" sz="30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0,66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372600" y="2468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R² hors échantillon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57200" y="329184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6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Interprétation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731520" y="3931920"/>
            <a:ext cx="106984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• Calage 1990-2011, validation 2012-2019 : huit années jamais vues par le modèle.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• 5,3 % d'erreur relative moyenne hors échantillon. Le R² dans l'échantillon vaut 1 par construction pour ce modèle : il ne mesure rien.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• Projection 2049, hypothèses macro par défaut : +79 % vs 2019.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• Fenêtre choisie hors COVID. En incluant 2020-2023, le R² hors échantillon de toutes les variantes devient négatif : le choc n'est pas prévisible à partir de la population et du revenu.
• Les valeurs n'incluent pas les transferts (ex. avec Toronto).</a:t>
            </a:r>
            <a:b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</a:br>
            <a:endParaRPr sz="1350">
              <a:solidFill>
                <a:srgbClr val="2F3A44"/>
              </a:solidFill>
            </a:endParaRPr>
          </a:p>
        </p:txBody>
      </p:sp>
      <p:sp>
        <p:nvSpPr>
          <p:cNvPr id="346" name="Google Shape;346;p1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06  ·  VARIANTES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Comparaison des variantes Kenza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solidFill>
            <a:srgbClr val="E5E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5720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338328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02920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667512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MAPE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8321040" y="1188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R² hors éch.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9692640" y="1188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28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R² in-éch.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solidFill>
            <a:srgbClr val="E5E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57200" y="16002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 complet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3383280" y="1600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13 835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029200" y="1600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11 165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675120" y="1600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12,8 %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8321040" y="16002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-0,82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9692640" y="1600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-0,14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57200" y="21488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 simplifié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383280" y="21488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77 264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029200" y="21488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65 000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675120" y="214884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75,8 %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8321040" y="21488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-55,6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9692640" y="21488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-49,0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457200" y="2697480"/>
            <a:ext cx="11247120" cy="54864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457200" y="26974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Kenza indexé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383280" y="26974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6 024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029200" y="26974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4 671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675120" y="26974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5,3 %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321040" y="2697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+0,66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9692640" y="2697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1,00 *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57200" y="3246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Kenza simplifié combiné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3383280" y="32461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8 384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0" y="32461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6 574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6675120" y="32461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7,5 %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321040" y="3246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+0,33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9692640" y="3246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lang="en-US" sz="124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+0,78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Calibri"/>
              <a:buNone/>
            </a:pPr>
            <a:r>
              <a:rPr lang="en-US" sz="10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* R² in-échantillon = 1 par construction : Kenza indexé inverse la distribution à partir du trafic observé. Seule la colonne hors échantillon mesure un pouvoir prédictif.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57200" y="438912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DF4F7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731520" y="4572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694"/>
              </a:buClr>
              <a:buSzPts val="1400"/>
              <a:buFont typeface="Arial"/>
              <a:buNone/>
            </a:pPr>
            <a:r>
              <a:rPr lang="en-US" sz="15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Interprétation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28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Calage 1990-2011, validation 2012-2019. Hors échantillon, les variantes indexées dominent nettement et Kenza simplifié diverge. Un score « sur historique » ne classe pas les modèles : Kenza indexé y affiche un R² de 1 sans qu'il mesure quoi que ce soit. Le choix final dépendra des données disponibles (prix ou non) et des besoins de scénarios.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08  ·  DONNÉES DEMANDÉES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Données à réunir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57200" y="1143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Trafic historique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731520" y="17373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Annuel, ≥ 20 ans, si possible par segment (domestique, transfrontalier, international).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6217920" y="1143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Prévisions macro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6492240" y="17373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PIB et population de la zone de chalandise (sources officielles ou internes).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457200" y="2560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Prix du billet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731520" y="31546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Prix moyen pondéré ou indices disponibles (optionnel pour variantes indexées).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217920" y="2560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Hypothèses internes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492240" y="31546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Études antérieures, plan stratégique, scénarios déjà utilisés.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57200" y="3977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731520" y="4160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Contraintes capacité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731520" y="45720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Mouvements max, surface terminale, slots, projets d'infrastructure.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6217920" y="3977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6492240" y="4160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1500"/>
              <a:buFont typeface="Arial"/>
              <a:buNone/>
            </a:pPr>
            <a:r>
              <a:rPr lang="en-US" sz="155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6492240" y="45720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Par type de passagers (loisir / affaires) si disponible.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/>
          <p:nvPr/>
        </p:nvSpPr>
        <p:spPr>
          <a:xfrm>
            <a:off x="457200" y="22860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0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08  ·  DÉCISIONS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F47"/>
              </a:buClr>
              <a:buSzPts val="2800"/>
              <a:buFont typeface="Arial"/>
              <a:buNone/>
            </a:pPr>
            <a:r>
              <a:rPr lang="en-US" sz="2700" b="1">
                <a:solidFill>
                  <a:srgbClr val="17324D"/>
                </a:solidFill>
              </a:rPr>
              <a:t>Intrants nécessaires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457200" y="105156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Calibri"/>
              <a:buNone/>
            </a:pPr>
            <a:r>
              <a:rPr lang="en-US" sz="140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Approbations et orientations à obtenir 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457200" y="1554480"/>
            <a:ext cx="11247000" cy="640200"/>
          </a:xfrm>
          <a:prstGeom prst="roundRect">
            <a:avLst>
              <a:gd name="adj" fmla="val 11429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640080" y="1691640"/>
            <a:ext cx="365700" cy="3657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 cap="flat" cmpd="sng">
            <a:solidFill>
              <a:srgbClr val="0346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1280160" y="1645920"/>
            <a:ext cx="1014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Validation du périmètre : le modèle Kenza est adapté aux besoins de l'exploitant.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457200" y="2331720"/>
            <a:ext cx="11247000" cy="640200"/>
          </a:xfrm>
          <a:prstGeom prst="roundRect">
            <a:avLst>
              <a:gd name="adj" fmla="val 11429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640080" y="2468880"/>
            <a:ext cx="365700" cy="3657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 cap="flat" cmpd="sng">
            <a:solidFill>
              <a:srgbClr val="0346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1280160" y="2423160"/>
            <a:ext cx="1014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Données : confirmation des fichiers disponibles et du calendrier de transmission.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457200" y="3108960"/>
            <a:ext cx="11247000" cy="640200"/>
          </a:xfrm>
          <a:prstGeom prst="roundRect">
            <a:avLst>
              <a:gd name="adj" fmla="val 11429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640080" y="3246120"/>
            <a:ext cx="365700" cy="3657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 cap="flat" cmpd="sng">
            <a:solidFill>
              <a:srgbClr val="0346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1280160" y="3200400"/>
            <a:ext cx="1014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Scénarios : choix des hypothèses centrales, haut et bas (taux de croissance, inflation).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57200" y="3886200"/>
            <a:ext cx="11247000" cy="640200"/>
          </a:xfrm>
          <a:prstGeom prst="roundRect">
            <a:avLst>
              <a:gd name="adj" fmla="val 11429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640080" y="4023360"/>
            <a:ext cx="365700" cy="3657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 cap="flat" cmpd="sng">
            <a:solidFill>
              <a:srgbClr val="0346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280160" y="3977640"/>
            <a:ext cx="1014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Fourchettes : principe retenu (percentiles statistiques ou scénarios économiques).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457200" y="4663440"/>
            <a:ext cx="11247000" cy="640200"/>
          </a:xfrm>
          <a:prstGeom prst="roundRect">
            <a:avLst>
              <a:gd name="adj" fmla="val 11429"/>
            </a:avLst>
          </a:prstGeom>
          <a:solidFill>
            <a:srgbClr val="F6F8F9"/>
          </a:solidFill>
          <a:ln w="9525" cap="flat" cmpd="sng">
            <a:solidFill>
              <a:srgbClr val="D8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640080" y="4800600"/>
            <a:ext cx="365700" cy="3657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 cap="flat" cmpd="sng">
            <a:solidFill>
              <a:srgbClr val="0346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280160" y="4754880"/>
            <a:ext cx="10149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lang="en-US" sz="1450" b="0" i="0" u="none" strike="noStrike" cap="none">
                <a:solidFill>
                  <a:srgbClr val="2F3A44"/>
                </a:solidFill>
                <a:latin typeface="Arial"/>
                <a:ea typeface="Arial"/>
                <a:cs typeface="Arial"/>
                <a:sym typeface="Arial"/>
              </a:rPr>
              <a:t>Prochaine étape : validation du planning et désignation des points de contact.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6e2a12bd2_0_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449" name="Google Shape;449;g3f6e2a12bd2_0_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6086475"/>
            <a:ext cx="10953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f6e2a12bd2_0_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991100"/>
            <a:ext cx="109537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f6e2a12bd2_0_4"/>
          <p:cNvSpPr txBox="1"/>
          <p:nvPr/>
        </p:nvSpPr>
        <p:spPr>
          <a:xfrm>
            <a:off x="619125" y="476250"/>
            <a:ext cx="10953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07 · PERSPECTIVES &amp; DÉVELOPPEMENTS</a:t>
            </a:r>
            <a:endParaRPr/>
          </a:p>
        </p:txBody>
      </p:sp>
      <p:sp>
        <p:nvSpPr>
          <p:cNvPr id="452" name="Google Shape;452;g3f6e2a12bd2_0_4"/>
          <p:cNvSpPr txBox="1"/>
          <p:nvPr/>
        </p:nvSpPr>
        <p:spPr>
          <a:xfrm>
            <a:off x="619125" y="723900"/>
            <a:ext cx="115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Axes de recherche et développement</a:t>
            </a:r>
            <a:endParaRPr/>
          </a:p>
        </p:txBody>
      </p:sp>
      <p:sp>
        <p:nvSpPr>
          <p:cNvPr id="453" name="Google Shape;453;g3f6e2a12bd2_0_4"/>
          <p:cNvSpPr txBox="1"/>
          <p:nvPr/>
        </p:nvSpPr>
        <p:spPr>
          <a:xfrm>
            <a:off x="619125" y="6229350"/>
            <a:ext cx="3467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Prévision du trafic aérien à long terme</a:t>
            </a:r>
            <a:endParaRPr/>
          </a:p>
        </p:txBody>
      </p:sp>
      <p:sp>
        <p:nvSpPr>
          <p:cNvPr id="454" name="Google Shape;454;g3f6e2a12bd2_0_4"/>
          <p:cNvSpPr/>
          <p:nvPr/>
        </p:nvSpPr>
        <p:spPr>
          <a:xfrm>
            <a:off x="619125" y="647700"/>
            <a:ext cx="66600" cy="66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6e2a12bd2_0_4"/>
          <p:cNvSpPr txBox="1"/>
          <p:nvPr/>
        </p:nvSpPr>
        <p:spPr>
          <a:xfrm>
            <a:off x="619125" y="5191125"/>
            <a:ext cx="11501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Mélange des méthodes</a:t>
            </a:r>
            <a:endParaRPr/>
          </a:p>
        </p:txBody>
      </p:sp>
      <p:sp>
        <p:nvSpPr>
          <p:cNvPr id="456" name="Google Shape;456;g3f6e2a12bd2_0_4"/>
          <p:cNvSpPr txBox="1"/>
          <p:nvPr/>
        </p:nvSpPr>
        <p:spPr>
          <a:xfrm>
            <a:off x="619125" y="5467350"/>
            <a:ext cx="10953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Possibilité de combiner ces approches (par exemple </a:t>
            </a:r>
            <a:r>
              <a:rPr lang="en-US" sz="11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02 et 03</a:t>
            </a: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1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pour étudier la méthode la plus efficace</a:t>
            </a: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457" name="Google Shape;457;g3f6e2a12bd2_0_4"/>
          <p:cNvSpPr txBox="1"/>
          <p:nvPr/>
        </p:nvSpPr>
        <p:spPr>
          <a:xfrm>
            <a:off x="619125" y="1491555"/>
            <a:ext cx="336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458" name="Google Shape;458;g3f6e2a12bd2_0_4"/>
          <p:cNvSpPr txBox="1"/>
          <p:nvPr/>
        </p:nvSpPr>
        <p:spPr>
          <a:xfrm>
            <a:off x="619125" y="1720155"/>
            <a:ext cx="353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Bootstrap</a:t>
            </a:r>
            <a:endParaRPr/>
          </a:p>
        </p:txBody>
      </p:sp>
      <p:sp>
        <p:nvSpPr>
          <p:cNvPr id="459" name="Google Shape;459;g3f6e2a12bd2_0_4"/>
          <p:cNvSpPr txBox="1"/>
          <p:nvPr/>
        </p:nvSpPr>
        <p:spPr>
          <a:xfrm>
            <a:off x="619125" y="2082105"/>
            <a:ext cx="33654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Variante de la méthode de Kenza déjà implémentée par le passé et utilisée </a:t>
            </a:r>
            <a:r>
              <a:rPr lang="en-US" sz="112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 ADP </a:t>
            </a: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pour probabiliser la demande en rééchantillonnant les données historiques. </a:t>
            </a:r>
            <a:endParaRPr/>
          </a:p>
        </p:txBody>
      </p:sp>
      <p:sp>
        <p:nvSpPr>
          <p:cNvPr id="460" name="Google Shape;460;g3f6e2a12bd2_0_4"/>
          <p:cNvSpPr txBox="1"/>
          <p:nvPr/>
        </p:nvSpPr>
        <p:spPr>
          <a:xfrm>
            <a:off x="4413200" y="1491555"/>
            <a:ext cx="336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461" name="Google Shape;461;g3f6e2a12bd2_0_4"/>
          <p:cNvSpPr txBox="1"/>
          <p:nvPr/>
        </p:nvSpPr>
        <p:spPr>
          <a:xfrm>
            <a:off x="4413200" y="1720155"/>
            <a:ext cx="353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Optimisation contextuelle</a:t>
            </a:r>
            <a:endParaRPr/>
          </a:p>
        </p:txBody>
      </p:sp>
      <p:sp>
        <p:nvSpPr>
          <p:cNvPr id="462" name="Google Shape;462;g3f6e2a12bd2_0_4"/>
          <p:cNvSpPr txBox="1"/>
          <p:nvPr/>
        </p:nvSpPr>
        <p:spPr>
          <a:xfrm>
            <a:off x="4413200" y="2082105"/>
            <a:ext cx="33654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Approche dans laquelle les hypothèses macroéconomiques et les scénarios de marché sont intégrés directement comme des informations additionnelles pour adapter le modèle.</a:t>
            </a:r>
            <a:endParaRPr/>
          </a:p>
        </p:txBody>
      </p:sp>
      <p:sp>
        <p:nvSpPr>
          <p:cNvPr id="463" name="Google Shape;463;g3f6e2a12bd2_0_4"/>
          <p:cNvSpPr txBox="1"/>
          <p:nvPr/>
        </p:nvSpPr>
        <p:spPr>
          <a:xfrm>
            <a:off x="8207275" y="1491555"/>
            <a:ext cx="336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464" name="Google Shape;464;g3f6e2a12bd2_0_4"/>
          <p:cNvSpPr txBox="1"/>
          <p:nvPr/>
        </p:nvSpPr>
        <p:spPr>
          <a:xfrm>
            <a:off x="8207275" y="1720155"/>
            <a:ext cx="353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Optimisation robuste en distribution</a:t>
            </a:r>
            <a:endParaRPr/>
          </a:p>
        </p:txBody>
      </p:sp>
      <p:sp>
        <p:nvSpPr>
          <p:cNvPr id="465" name="Google Shape;465;g3f6e2a12bd2_0_4"/>
          <p:cNvSpPr txBox="1"/>
          <p:nvPr/>
        </p:nvSpPr>
        <p:spPr>
          <a:xfrm>
            <a:off x="8207275" y="2329755"/>
            <a:ext cx="33657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Méthode centrée sur l'analyse du pire cas afin d'assurer la résilience des décisions face aux incertitudes et à la variabilité des données.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/>
          <p:nvPr/>
        </p:nvSpPr>
        <p:spPr>
          <a:xfrm>
            <a:off x="777240" y="960120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lang="en-US" sz="115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777240" y="1600200"/>
            <a:ext cx="106071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900" b="1" i="0" u="none" strike="noStrike" cap="non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La méthode Kenza offre un cadre robuste et flexible pour la prévision du trafic.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777240" y="3429010"/>
            <a:ext cx="10241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B6F7F"/>
                </a:solidFill>
                <a:latin typeface="Arial"/>
                <a:ea typeface="Arial"/>
                <a:cs typeface="Arial"/>
                <a:sym typeface="Arial"/>
              </a:rPr>
              <a:t>Merci de votre attention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914340" y="4523740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27425" rIns="54850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150" b="0" i="0" u="none" strike="noStrike" cap="none">
                <a:solidFill>
                  <a:srgbClr val="6F7A84"/>
                </a:solidFill>
                <a:latin typeface="Arial"/>
                <a:ea typeface="Arial"/>
                <a:cs typeface="Arial"/>
                <a:sym typeface="Arial"/>
              </a:rPr>
              <a:t>Auteurs :</a:t>
            </a:r>
            <a:endParaRPr sz="1150" b="0" i="0" u="none" strike="noStrike" cap="none">
              <a:solidFill>
                <a:srgbClr val="6F7A8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A84"/>
              </a:buClr>
              <a:buSzPts val="1150"/>
              <a:buFont typeface="Arial"/>
              <a:buChar char="●"/>
            </a:pPr>
            <a:r>
              <a:rPr lang="en-US" sz="1150">
                <a:solidFill>
                  <a:srgbClr val="6F7A84"/>
                </a:solidFill>
                <a:uFill>
                  <a:noFill/>
                </a:uFill>
              </a:rPr>
              <a:t>Chama EL KHEMSANI — ENAC</a:t>
            </a:r>
            <a:endParaRPr sz="1150">
              <a:solidFill>
                <a:srgbClr val="6F7A84"/>
              </a:solidFill>
            </a:endParaRPr>
          </a:p>
          <a:p>
            <a:pPr marL="457200" marR="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A84"/>
              </a:buClr>
              <a:buSzPts val="1150"/>
              <a:buChar char="●"/>
            </a:pPr>
            <a:r>
              <a:rPr lang="en-US" sz="1150">
                <a:solidFill>
                  <a:srgbClr val="6F7A84"/>
                </a:solidFill>
              </a:rPr>
              <a:t>Fabian BASTIN — Université de Montréal</a:t>
            </a:r>
            <a:endParaRPr sz="1150">
              <a:solidFill>
                <a:srgbClr val="6F7A84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50">
                <a:solidFill>
                  <a:srgbClr val="6F7A84"/>
                </a:solidFill>
              </a:rPr>
              <a:t>Daniel SALLIER — expertise Kenza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5" name="Google Shape;475;p2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Microsoft Office PowerPoint</Application>
  <PresentationFormat>Widescreen</PresentationFormat>
  <Paragraphs>313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Merriweather</vt:lpstr>
      <vt:lpstr>Arial</vt:lpstr>
      <vt:lpstr>Times New Roman</vt:lpstr>
      <vt:lpstr>Inter</vt:lpstr>
      <vt:lpstr>DM Sans Medium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 Bastin</cp:lastModifiedBy>
  <cp:revision>1</cp:revision>
  <dcterms:modified xsi:type="dcterms:W3CDTF">2026-09-04T11:49:00Z</dcterms:modified>
</cp:coreProperties>
</file>