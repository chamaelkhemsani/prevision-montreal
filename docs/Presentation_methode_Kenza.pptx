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ContentType="application/vnd.openxmlformats-officedocument.presentationml.slide+xml" PartName="/ppt/slides/slide2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7" r:id="rId44"/>
    <p:sldId id="273" r:id="rId23"/>
    <p:sldId id="274" r:id="rId24"/>
    <p:sldId id="275" r:id="rId25"/>
    <p:sldId id="276" r:id="rId26"/>
  </p:sldIdLst>
  <p:sldSz cy="6858000" cx="12192000"/>
  <p:notesSz cx="6858000" cy="12192000"/>
  <p:embeddedFontLst>
    <p:embeddedFont>
      <p:font typeface="DM Sans Medium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DM Sans"/>
      <p:regular r:id="rId35"/>
      <p:bold r:id="rId36"/>
      <p:italic r:id="rId37"/>
      <p:boldItalic r:id="rId38"/>
    </p:embeddedFont>
    <p:embeddedFont>
      <p:font typeface="Merriweather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:go="http://customooxmlschemas.google.com/" r:id="rId43" roundtripDataSignature="AMtx7mhf4Mg8n9wYTzt0KAGMkuhUF/IR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erriweather-bold.fntdata"/><Relationship Id="rId20" Type="http://schemas.openxmlformats.org/officeDocument/2006/relationships/slide" Target="slides/slide15.xml"/><Relationship Id="rId42" Type="http://schemas.openxmlformats.org/officeDocument/2006/relationships/font" Target="fonts/Merriweather-boldItalic.fntdata"/><Relationship Id="rId41" Type="http://schemas.openxmlformats.org/officeDocument/2006/relationships/font" Target="fonts/Merriweather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customschemas.google.com/relationships/presentationmetadata" Target="meta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DMSansMedium-bold.fntdata"/><Relationship Id="rId27" Type="http://schemas.openxmlformats.org/officeDocument/2006/relationships/font" Target="fonts/DMSans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DMSansMedium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regular.fntdata"/><Relationship Id="rId30" Type="http://schemas.openxmlformats.org/officeDocument/2006/relationships/font" Target="fonts/DMSansMedium-boldItalic.fntdata"/><Relationship Id="rId11" Type="http://schemas.openxmlformats.org/officeDocument/2006/relationships/slide" Target="slides/slide6.xml"/><Relationship Id="rId33" Type="http://schemas.openxmlformats.org/officeDocument/2006/relationships/font" Target="fonts/Inter-italic.fntdata"/><Relationship Id="rId10" Type="http://schemas.openxmlformats.org/officeDocument/2006/relationships/slide" Target="slides/slide5.xml"/><Relationship Id="rId32" Type="http://schemas.openxmlformats.org/officeDocument/2006/relationships/font" Target="fonts/Inter-bold.fntdata"/><Relationship Id="rId13" Type="http://schemas.openxmlformats.org/officeDocument/2006/relationships/slide" Target="slides/slide8.xml"/><Relationship Id="rId35" Type="http://schemas.openxmlformats.org/officeDocument/2006/relationships/font" Target="fonts/DMSans-regular.fntdata"/><Relationship Id="rId12" Type="http://schemas.openxmlformats.org/officeDocument/2006/relationships/slide" Target="slides/slide7.xml"/><Relationship Id="rId34" Type="http://schemas.openxmlformats.org/officeDocument/2006/relationships/font" Target="fonts/Inter-boldItalic.fntdata"/><Relationship Id="rId15" Type="http://schemas.openxmlformats.org/officeDocument/2006/relationships/slide" Target="slides/slide10.xml"/><Relationship Id="rId37" Type="http://schemas.openxmlformats.org/officeDocument/2006/relationships/font" Target="fonts/DMSans-italic.fntdata"/><Relationship Id="rId14" Type="http://schemas.openxmlformats.org/officeDocument/2006/relationships/slide" Target="slides/slide9.xml"/><Relationship Id="rId36" Type="http://schemas.openxmlformats.org/officeDocument/2006/relationships/font" Target="fonts/DMSans-bold.fntdata"/><Relationship Id="rId17" Type="http://schemas.openxmlformats.org/officeDocument/2006/relationships/slide" Target="slides/slide12.xml"/><Relationship Id="rId39" Type="http://schemas.openxmlformats.org/officeDocument/2006/relationships/font" Target="fonts/Merriweather-regular.fntdata"/><Relationship Id="rId16" Type="http://schemas.openxmlformats.org/officeDocument/2006/relationships/slide" Target="slides/slide11.xml"/><Relationship Id="rId38" Type="http://schemas.openxmlformats.org/officeDocument/2006/relationships/font" Target="fonts/DMSans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44" Type="http://schemas.openxmlformats.org/officeDocument/2006/relationships/slide" Target="slides/slide2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" name="Google Shape;5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667f0c552_0_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667f0c552_0_3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667f0c552_0_118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g3f667f0c552_0_118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5" name="Google Shape;25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5" name="Google Shape;325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f6e2a12bd2_0_4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3f6e2a12bd2_0_4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667f0c552_0_11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g3f667f0c552_0_11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g3f667f0c552_0_11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tx1"/>
                </a:solidFill>
              </a:defRPr>
            </a:lvl1pPr>
            <a:lvl2pPr lvl="1" algn="r">
              <a:buNone/>
              <a:defRPr sz="1300">
                <a:solidFill>
                  <a:schemeClr val="tx1"/>
                </a:solidFill>
              </a:defRPr>
            </a:lvl2pPr>
            <a:lvl3pPr lvl="2" algn="r">
              <a:buNone/>
              <a:defRPr sz="1300">
                <a:solidFill>
                  <a:schemeClr val="tx1"/>
                </a:solidFill>
              </a:defRPr>
            </a:lvl3pPr>
            <a:lvl4pPr lvl="3" algn="r">
              <a:buNone/>
              <a:defRPr sz="1300">
                <a:solidFill>
                  <a:schemeClr val="tx1"/>
                </a:solidFill>
              </a:defRPr>
            </a:lvl4pPr>
            <a:lvl5pPr lvl="4" algn="r">
              <a:buNone/>
              <a:defRPr sz="1300">
                <a:solidFill>
                  <a:schemeClr val="tx1"/>
                </a:solidFill>
              </a:defRPr>
            </a:lvl5pPr>
            <a:lvl6pPr lvl="5" algn="r">
              <a:buNone/>
              <a:defRPr sz="1300">
                <a:solidFill>
                  <a:schemeClr val="tx1"/>
                </a:solidFill>
              </a:defRPr>
            </a:lvl6pPr>
            <a:lvl7pPr lvl="6" algn="r">
              <a:buNone/>
              <a:defRPr sz="1300">
                <a:solidFill>
                  <a:schemeClr val="tx1"/>
                </a:solidFill>
              </a:defRPr>
            </a:lvl7pPr>
            <a:lvl8pPr lvl="7" algn="r">
              <a:buNone/>
              <a:defRPr sz="1300">
                <a:solidFill>
                  <a:schemeClr val="tx1"/>
                </a:solidFill>
              </a:defRPr>
            </a:lvl8pPr>
            <a:lvl9pPr lvl="8" algn="r">
              <a:buNone/>
              <a:defRPr sz="1300">
                <a:solidFill>
                  <a:schemeClr val="tx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4.png"/><Relationship Id="rId13" Type="http://schemas.openxmlformats.org/officeDocument/2006/relationships/image" Target="../media/image15.png"/><Relationship Id="rId1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7.png"/><Relationship Id="rId15" Type="http://schemas.openxmlformats.org/officeDocument/2006/relationships/image" Target="../media/image5.png"/><Relationship Id="rId1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7.png"/><Relationship Id="rId7" Type="http://schemas.openxmlformats.org/officeDocument/2006/relationships/image" Target="../media/image16.png"/><Relationship Id="rId8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"/>
          <p:cNvSpPr/>
          <p:nvPr/>
        </p:nvSpPr>
        <p:spPr>
          <a:xfrm>
            <a:off x="777240" y="114300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MÉTHODE KENZA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77240" y="1691640"/>
            <a:ext cx="106984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b="1" i="0" lang="en-US" sz="34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 du trafic aérien à long terme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77240" y="315468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7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Implémentation de la solution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77240" y="4160520"/>
            <a:ext cx="98755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Présenté par : Chama EL KHEMSANI - </a:t>
            </a:r>
            <a:r>
              <a:rPr lang="en-US" sz="1250">
                <a:solidFill>
                  <a:srgbClr val="6F7A84"/>
                </a:solidFill>
              </a:rPr>
              <a:t>Elève</a:t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 à l</a:t>
            </a:r>
            <a:r>
              <a:rPr lang="en-US" sz="1250">
                <a:solidFill>
                  <a:srgbClr val="6F7A84"/>
                </a:solidFill>
              </a:rPr>
              <a:t>’Ecole Nationale de l’Aviation Civile (ENAC) de Toulouse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Tutoré par : Fabian </a:t>
            </a:r>
            <a:r>
              <a:rPr lang="en-US" sz="1250">
                <a:solidFill>
                  <a:srgbClr val="6F7A84"/>
                </a:solidFill>
              </a:rPr>
              <a:t>BASTIN - Professeur en informatique et recherche opérationnelle à l'Université de Montréal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Avec l’aide de : Daniel </a:t>
            </a:r>
            <a:r>
              <a:rPr lang="en-US" sz="1250">
                <a:solidFill>
                  <a:srgbClr val="6F7A84"/>
                </a:solidFill>
              </a:rPr>
              <a:t>SALLIER - Market Expert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250">
                <a:solidFill>
                  <a:srgbClr val="6F7A84"/>
                </a:solidFill>
              </a:rPr>
              <a:t/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ORDRE DU JOUR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Plan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68580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55448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Objectifs &amp; contexte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5720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8580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155448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fondements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5720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8580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55448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Avantages de la méthode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5720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8580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55448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nécessaires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621792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44652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731520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Implémentation &amp; démonstration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21792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644652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731520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Résultats historiques &amp; variantes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21792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44652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731520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&amp; arbitrages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1792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44652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31520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Décisions attendues &amp; prochaines étapes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OBJECTIFS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Objectifs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1143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22960" y="1280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Présenter la méthode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822960" y="1600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Kenza, ses fondements économiques et mathématiques, et son adéquation avec les besoins de l'aéroport.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457200" y="2286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22960" y="2423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Implémentation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Outil déjà fonctionnel, avec interface et exports multi-formats.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57200" y="3429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822960" y="3566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À valider avec l'exploitant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822960" y="3886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disponibles, hypothèses macro, scénarios (central / haut / bas), contraintes de capacité.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57200" y="4572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822960" y="4709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Obtenir les orientations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822960" y="5029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Finaliser le calibrage et livrer les prévisions opérationnelles à horizon 20-30 ans.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CONTEXTE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Problème à traiter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457200" y="1097280"/>
            <a:ext cx="1124712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685800" y="1234440"/>
            <a:ext cx="10789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Un exploitant aéroportuaire doit planifier ses infrastructures (terminal, pistes, parkings), ses financements et ses stratégies commerciales à un horizon de 20 à 30 ans.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45720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73152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Explicable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3152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Les décideurs doivent comprendre la construction du modèle.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621792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Paramétrable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649224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Tester différents scénarios (PIB, population, prix, concurrence).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45720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73152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Utilisable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73152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Fournir ordres de grandeur, tendances et fourchettes de confiance.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621792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649224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Adaptée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649224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Aux données disponibles et aux spécificités locales.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400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g3f667f0c552_0_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02150" y="2603897"/>
            <a:ext cx="3587799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8045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g3f667f0c552_0_3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 KENZA</a:t>
            </a:r>
            <a:endParaRPr/>
          </a:p>
        </p:txBody>
      </p:sp>
      <p:sp>
        <p:nvSpPr>
          <p:cNvPr id="105" name="Google Shape;105;g3f667f0c552_0_3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Mécanisme et logique comportementale</a:t>
            </a:r>
            <a:endParaRPr/>
          </a:p>
        </p:txBody>
      </p:sp>
      <p:sp>
        <p:nvSpPr>
          <p:cNvPr id="106" name="Google Shape;106;g3f667f0c552_0_3"/>
          <p:cNvSpPr txBox="1"/>
          <p:nvPr/>
        </p:nvSpPr>
        <p:spPr>
          <a:xfrm>
            <a:off x="1165007" y="2842025"/>
            <a:ext cx="2267536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Envie de voyager</a:t>
            </a:r>
            <a:endParaRPr/>
          </a:p>
        </p:txBody>
      </p:sp>
      <p:sp>
        <p:nvSpPr>
          <p:cNvPr id="107" name="Google Shape;107;g3f667f0c552_0_3"/>
          <p:cNvSpPr txBox="1"/>
          <p:nvPr/>
        </p:nvSpPr>
        <p:spPr>
          <a:xfrm>
            <a:off x="584275" y="3194450"/>
            <a:ext cx="3429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Propension à la mobilité</a:t>
            </a:r>
            <a:endParaRPr/>
          </a:p>
        </p:txBody>
      </p:sp>
      <p:sp>
        <p:nvSpPr>
          <p:cNvPr id="108" name="Google Shape;108;g3f667f0c552_0_3"/>
          <p:cNvSpPr txBox="1"/>
          <p:nvPr/>
        </p:nvSpPr>
        <p:spPr>
          <a:xfrm>
            <a:off x="72402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Déterminée par les facteurs culturels, touristiques et professionnels. Traduit la capacité d'une population à transformer son potentiel économique en voyages réels.</a:t>
            </a:r>
            <a:endParaRPr/>
          </a:p>
        </p:txBody>
      </p:sp>
      <p:sp>
        <p:nvSpPr>
          <p:cNvPr id="109" name="Google Shape;109;g3f667f0c552_0_3"/>
          <p:cNvSpPr txBox="1"/>
          <p:nvPr/>
        </p:nvSpPr>
        <p:spPr>
          <a:xfrm>
            <a:off x="4272021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absolu</a:t>
            </a:r>
            <a:endParaRPr/>
          </a:p>
        </p:txBody>
      </p:sp>
      <p:sp>
        <p:nvSpPr>
          <p:cNvPr id="110" name="Google Shape;110;g3f667f0c552_0_3"/>
          <p:cNvSpPr txBox="1"/>
          <p:nvPr/>
        </p:nvSpPr>
        <p:spPr>
          <a:xfrm>
            <a:off x="4302025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Barrière immédiate à l'achat</a:t>
            </a:r>
            <a:endParaRPr/>
          </a:p>
        </p:txBody>
      </p:sp>
      <p:sp>
        <p:nvSpPr>
          <p:cNvPr id="111" name="Google Shape;111;g3f667f0c552_0_3"/>
          <p:cNvSpPr txBox="1"/>
          <p:nvPr/>
        </p:nvSpPr>
        <p:spPr>
          <a:xfrm>
            <a:off x="4502175" y="3489722"/>
            <a:ext cx="31878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Effet direct du montant brut du billet (ex. 1 000 $). Une hausse de ce coût décourage la dépense, reporte le déplacement ou détourne vers d'autres destinations.</a:t>
            </a:r>
            <a:endParaRPr/>
          </a:p>
        </p:txBody>
      </p:sp>
      <p:sp>
        <p:nvSpPr>
          <p:cNvPr id="112" name="Google Shape;112;g3f667f0c552_0_3"/>
          <p:cNvSpPr txBox="1"/>
          <p:nvPr/>
        </p:nvSpPr>
        <p:spPr>
          <a:xfrm>
            <a:off x="8080450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relatif</a:t>
            </a:r>
            <a:endParaRPr/>
          </a:p>
        </p:txBody>
      </p:sp>
      <p:sp>
        <p:nvSpPr>
          <p:cNvPr id="113" name="Google Shape;113;g3f667f0c552_0_3"/>
          <p:cNvSpPr txBox="1"/>
          <p:nvPr/>
        </p:nvSpPr>
        <p:spPr>
          <a:xfrm>
            <a:off x="8080400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Poids sur le revenu disponible</a:t>
            </a:r>
            <a:endParaRPr/>
          </a:p>
        </p:txBody>
      </p:sp>
      <p:sp>
        <p:nvSpPr>
          <p:cNvPr id="114" name="Google Shape;114;g3f667f0c552_0_3"/>
          <p:cNvSpPr txBox="1"/>
          <p:nvPr/>
        </p:nvSpPr>
        <p:spPr>
          <a:xfrm>
            <a:off x="828047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 du revenu sacrifiée pour voyager. Un même billet peut être accessible aux ménages aisés et prohibitif pour les bas revenus. Moteur principal de l'accessibilité.</a:t>
            </a:r>
            <a:endParaRPr/>
          </a:p>
        </p:txBody>
      </p:sp>
      <p:sp>
        <p:nvSpPr>
          <p:cNvPr id="115" name="Google Shape;115;g3f667f0c552_0_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g3f667f0c552_0_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4539704"/>
            <a:ext cx="11144250" cy="18895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g3f667f0c552_0_1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02025" y="1950987"/>
            <a:ext cx="3587799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8032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g3f667f0c552_0_1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01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g3f667f0c552_0_1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15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g3f667f0c552_0_1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629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g3f667f0c552_0_1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74000" y="2217687"/>
            <a:ext cx="24003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g3f667f0c552_0_118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</a:t>
            </a:r>
            <a:r>
              <a:rPr b="1" i="0" lang="en-US" sz="975" u="none" cap="none" strike="noStrike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1" lang="en-US" sz="1050">
                <a:solidFill>
                  <a:srgbClr val="2B6F7F"/>
                </a:solidFill>
              </a:rPr>
              <a:t>KENZA</a:t>
            </a:r>
            <a:endParaRPr/>
          </a:p>
        </p:txBody>
      </p:sp>
      <p:sp>
        <p:nvSpPr>
          <p:cNvPr id="129" name="Google Shape;129;g3f667f0c552_0_118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Une méthode éprouvée et adoptée par des acteurs majeurs</a:t>
            </a:r>
            <a:endParaRPr/>
          </a:p>
        </p:txBody>
      </p:sp>
      <p:sp>
        <p:nvSpPr>
          <p:cNvPr id="130" name="Google Shape;130;g3f667f0c552_0_118"/>
          <p:cNvSpPr txBox="1"/>
          <p:nvPr/>
        </p:nvSpPr>
        <p:spPr>
          <a:xfrm>
            <a:off x="800100" y="4777829"/>
            <a:ext cx="10591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Un standard de marché validé par la pratique industrielle</a:t>
            </a:r>
            <a:endParaRPr/>
          </a:p>
        </p:txBody>
      </p:sp>
      <p:sp>
        <p:nvSpPr>
          <p:cNvPr id="131" name="Google Shape;131;g3f667f0c552_0_118"/>
          <p:cNvSpPr txBox="1"/>
          <p:nvPr/>
        </p:nvSpPr>
        <p:spPr>
          <a:xfrm>
            <a:off x="573125" y="2757817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Constructeurs aéronautiques</a:t>
            </a:r>
            <a:endParaRPr/>
          </a:p>
        </p:txBody>
      </p:sp>
      <p:sp>
        <p:nvSpPr>
          <p:cNvPr id="132" name="Google Shape;132;g3f667f0c552_0_118"/>
          <p:cNvSpPr txBox="1"/>
          <p:nvPr/>
        </p:nvSpPr>
        <p:spPr>
          <a:xfrm>
            <a:off x="72390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Utilisée pour calibrer les études de marché globales, modéliser la demande long terme d'aéronefs et anticiper le dimensionnement des flottes mondiales.</a:t>
            </a:r>
            <a:endParaRPr/>
          </a:p>
        </p:txBody>
      </p:sp>
      <p:sp>
        <p:nvSpPr>
          <p:cNvPr id="133" name="Google Shape;133;g3f667f0c552_0_118"/>
          <p:cNvSpPr txBox="1"/>
          <p:nvPr/>
        </p:nvSpPr>
        <p:spPr>
          <a:xfrm>
            <a:off x="4385974" y="2768992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Gestionnaires d'aéroports</a:t>
            </a:r>
            <a:endParaRPr/>
          </a:p>
        </p:txBody>
      </p:sp>
      <p:sp>
        <p:nvSpPr>
          <p:cNvPr id="134" name="Google Shape;134;g3f667f0c552_0_118"/>
          <p:cNvSpPr txBox="1"/>
          <p:nvPr/>
        </p:nvSpPr>
        <p:spPr>
          <a:xfrm>
            <a:off x="4502050" y="3084462"/>
            <a:ext cx="31878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Adoptée par le Groupe ADP pour planifier les capacités terminales, orienter les investissements d'infrastructures et projeter les flux de passagers.</a:t>
            </a:r>
            <a:endParaRPr/>
          </a:p>
        </p:txBody>
      </p:sp>
      <p:sp>
        <p:nvSpPr>
          <p:cNvPr id="135" name="Google Shape;135;g3f667f0c552_0_118"/>
          <p:cNvSpPr txBox="1"/>
          <p:nvPr/>
        </p:nvSpPr>
        <p:spPr>
          <a:xfrm>
            <a:off x="8144950" y="2808225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Compagnies aériennes</a:t>
            </a:r>
            <a:endParaRPr/>
          </a:p>
        </p:txBody>
      </p:sp>
      <p:sp>
        <p:nvSpPr>
          <p:cNvPr id="136" name="Google Shape;136;g3f667f0c552_0_118"/>
          <p:cNvSpPr txBox="1"/>
          <p:nvPr/>
        </p:nvSpPr>
        <p:spPr>
          <a:xfrm>
            <a:off x="828035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Déployée opérationnellement à travers le monde pour l'évaluation de potentiel d'ouverture de lignes, l'analyse tarifaire et la stratégie de réseau.</a:t>
            </a:r>
            <a:endParaRPr/>
          </a:p>
        </p:txBody>
      </p:sp>
      <p:pic>
        <p:nvPicPr>
          <p:cNvPr descr="image.png" id="137" name="Google Shape;137;g3f667f0c552_0_1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604813" y="2193119"/>
            <a:ext cx="6000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g3f667f0c552_0_1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347763" y="2134836"/>
            <a:ext cx="682823" cy="3999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g3f667f0c552_0_1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872460" y="2193119"/>
            <a:ext cx="446782" cy="399901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3f667f0c552_0_118"/>
          <p:cNvSpPr txBox="1"/>
          <p:nvPr/>
        </p:nvSpPr>
        <p:spPr>
          <a:xfrm>
            <a:off x="1366425" y="5291800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Déjà appliqué par tout l’écosystème</a:t>
            </a:r>
            <a:endParaRPr/>
          </a:p>
        </p:txBody>
      </p:sp>
      <p:sp>
        <p:nvSpPr>
          <p:cNvPr id="141" name="Google Shape;141;g3f667f0c552_0_118"/>
          <p:cNvSpPr txBox="1"/>
          <p:nvPr/>
        </p:nvSpPr>
        <p:spPr>
          <a:xfrm>
            <a:off x="9810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Partagée par l'ensemble des maillons de la chaîne (avions, aéroports, lignes), garantissant une vision alignée du marché.</a:t>
            </a:r>
            <a:endParaRPr/>
          </a:p>
        </p:txBody>
      </p:sp>
      <p:sp>
        <p:nvSpPr>
          <p:cNvPr id="142" name="Google Shape;142;g3f667f0c552_0_118"/>
          <p:cNvSpPr txBox="1"/>
          <p:nvPr/>
        </p:nvSpPr>
        <p:spPr>
          <a:xfrm>
            <a:off x="4868031" y="5273125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Méthode validée </a:t>
            </a:r>
            <a:endParaRPr/>
          </a:p>
        </p:txBody>
      </p:sp>
      <p:sp>
        <p:nvSpPr>
          <p:cNvPr id="143" name="Google Shape;143;g3f667f0c552_0_118"/>
          <p:cNvSpPr txBox="1"/>
          <p:nvPr/>
        </p:nvSpPr>
        <p:spPr>
          <a:xfrm>
            <a:off x="45624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Validation empirique continue sur des décennies de données de trafic réel face aux évolutions macroéconomiques.</a:t>
            </a:r>
            <a:endParaRPr/>
          </a:p>
        </p:txBody>
      </p:sp>
      <p:sp>
        <p:nvSpPr>
          <p:cNvPr id="144" name="Google Shape;144;g3f667f0c552_0_118"/>
          <p:cNvSpPr txBox="1"/>
          <p:nvPr/>
        </p:nvSpPr>
        <p:spPr>
          <a:xfrm>
            <a:off x="8449281" y="5291799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Outil d’a</a:t>
            </a: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ide à la décision</a:t>
            </a:r>
            <a:endParaRPr/>
          </a:p>
        </p:txBody>
      </p:sp>
      <p:sp>
        <p:nvSpPr>
          <p:cNvPr id="145" name="Google Shape;145;g3f667f0c552_0_118"/>
          <p:cNvSpPr txBox="1"/>
          <p:nvPr/>
        </p:nvSpPr>
        <p:spPr>
          <a:xfrm>
            <a:off x="81438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 outil d'aide à la décision stratégique indispensable pour sécuriser les investissements lourds de l'aéronautique.</a:t>
            </a:r>
            <a:endParaRPr/>
          </a:p>
        </p:txBody>
      </p:sp>
      <p:pic>
        <p:nvPicPr>
          <p:cNvPr descr="image.png" id="146" name="Google Shape;146;g3f667f0c552_0_1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81075" y="5273129"/>
            <a:ext cx="2381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g3f667f0c552_0_1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45624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g3f667f0c552_0_11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1438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g3f667f0c552_0_11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Fondements de la méthode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Développée par Daniel Sallier (Aéroports de Paris, Airbus).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4008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P(t)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64008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64008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Taille du marché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429768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448056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Y(t)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48056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Revenu / PIB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448056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Capacité d'achat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813816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832104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π(t)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832104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relatif</a:t>
            </a:r>
            <a:r>
              <a:rPr b="1" lang="en-US" sz="1550">
                <a:solidFill>
                  <a:srgbClr val="17324D"/>
                </a:solidFill>
              </a:rP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832104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billet / 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457200" y="3474720"/>
            <a:ext cx="11247120" cy="2286000"/>
          </a:xfrm>
          <a:prstGeom prst="roundRect">
            <a:avLst>
              <a:gd fmla="val 4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731520" y="36576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Formule fondamentale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731520" y="4114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600"/>
              <a:buFont typeface="Arial"/>
              <a:buNone/>
            </a:pPr>
            <a:r>
              <a:rPr b="1" i="0" lang="en-US" sz="2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D(t)  =  P(t)  ×  K₁  ×  F*(K₂ × π(t))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731520" y="47548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où F* est la fonction de survie des revenus normalisés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relatif très bas → saturation  ·  Prix relatif très élevé → demande nulle</a:t>
            </a:r>
            <a:r>
              <a:rPr lang="en-US" sz="1350">
                <a:solidFill>
                  <a:srgbClr val="2F3A44"/>
                </a:solidFill>
              </a:rPr>
              <a:t/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35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K₁ : constante agrégée, multiplicateur de la population (0,8193)</a:t>
            </a:r>
            <a:r>
              <a:rPr baseline="-25000" lang="en-US" sz="1350">
                <a:solidFill>
                  <a:srgbClr val="2F3A44"/>
                </a:solidFill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K₂ : facteur d'échelle du prix normalisé (30)</a:t>
            </a:r>
            <a:r>
              <a:rPr baseline="-25000" lang="en-US" sz="1350">
                <a:solidFill>
                  <a:srgbClr val="2F3A44"/>
                </a:solidFill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174" name="Google Shape;174;p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Formes mathématiques utilisées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47243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70103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Distribution des revenus (Coste)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701038" y="3372307"/>
            <a:ext cx="50292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avec a &gt; 0, b &gt; 0, c &lt; 0, d &gt; 0 ; F* est bornée à [0;1] (a = 1,1572 en référence)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normalisé 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π(t) = scale × Prix_billet(t) / PIB_per_capita(t)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23315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46175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Variantes implémentées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6461758" y="264078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complet · Kenza simplifié</a:t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6461758" y="296082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simplifié combiné · Kenza simplifié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461758" y="328086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indexé      (probabiliste : non disponible)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6" title="CodeCogsEq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7200" y="2617938"/>
            <a:ext cx="4436880" cy="6400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6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  ·  AVANTAGES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Pourquoi la méthode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45720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68580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Interprétabilité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68580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Chaque paramètre (élasticité-revenu, élasticité-prix) a un sens économique clair et défendable.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429768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52628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Transparence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452628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Hypothèses explicites ; on peut tracer l'influence de chaque variable sur le résultat.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813816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836676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Flexibilité scénarique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836676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Modifications aisées de croissance PIB, population, prix, chocs, contraintes de capacité.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45720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68580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Adaptation long terme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68580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Structure stable des distributions de revenus ; élasticités issues du modèle, pas d'extrapolation pure.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429768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452628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Reconnue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452628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Validée sur données réelles (ADP</a:t>
            </a:r>
            <a:r>
              <a:rPr lang="en-US">
                <a:solidFill>
                  <a:srgbClr val="2F3A44"/>
                </a:solidFill>
              </a:rPr>
              <a:t>, Bombardier) et nombreuses applications dans le domaine aéronautiques (aéroports, constructeurs, compagnies aériennes)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813816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836676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Extensible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836676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Intégration possible de contraintes de capacité (mouvements, surface terminale, slots).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  ·  DONNÉES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nécessaires au modèle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Colonne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3383280" y="118872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Description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8412480" y="118872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Exemple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457200" y="160020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year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3383280" y="160020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Année (entier)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8412480" y="160020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1990, 1991, …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457200" y="210312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457200" y="210312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actual_passengers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3383280" y="210312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Trafic annuel total (passagers)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8412480" y="210312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31 000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457200" y="260604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457200" y="260604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3383280" y="260604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8412480" y="260604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6 996 986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457200" y="31089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457200" y="310896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gdp_per_capita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3383280" y="310896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8412480" y="31089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28 636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457200" y="361188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457200" y="361188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ticket_price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3383280" y="361188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du billet (requis, sauf variantes indexées)</a:t>
            </a:r>
            <a:r>
              <a:rPr lang="en-US" sz="1280">
                <a:solidFill>
                  <a:srgbClr val="2F3A44"/>
                </a:solidFill>
              </a:rP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8412480" y="361188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185,00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Remarques : période idéale ≥ 20 ans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457200" y="4846320"/>
            <a:ext cx="11247120" cy="1097280"/>
          </a:xfrm>
          <a:prstGeom prst="roundRect">
            <a:avLst>
              <a:gd fmla="val 6667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Format recommandé : CSV ou Excel avec colonnes exactes ci-dessus. Segmentation (domestique /  frontalier / international ) fortement souhaitable pour un calibrage plus fin.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État de l'outil 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5720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77724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Gestion des données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77724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Chargement CSV/Excel, normalisation, validation des colonnes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21792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653796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Choix du modèle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53796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Gestion des variantes Kenza via métadonnées JSON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45720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77724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Calculs et prévisions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77724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Calibration, prévisions, et calculs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21792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653796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Exports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653796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Tableau de prévision en CSV ou Excel ; graphique en PDF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457200" y="4114800"/>
            <a:ext cx="11247120" cy="1737360"/>
          </a:xfrm>
          <a:prstGeom prst="roundRect">
            <a:avLst>
              <a:gd fmla="val 5263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731520" y="42976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Stack technique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Langage : Julia 1.10+ (haute performance scientifique)   ·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État : fonctionnel et audité — 253 tests de non-régression ; écart au classeur Excel de 3 à 11 % selon la variante, sauf Kenza indexé (41,7 %, non expliqué à ce jour)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Fonctionnalités : chargement fichiers, sélection modèle, réglage paramètres, graphiques, métriques (RMSE, MAE, MAPE, R²), intervalles de confiance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0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1 : Interface générale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Organisation de l'écran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8092440" y="214884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Panneau gauche, de haut en bas : chargement du fichier, période d'entraînement, choix du modèle.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Puis l'horizon de prévision et les paramètres du modèle, générés d'après ses métadonnées.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En bas : « Lancer le modèle » et la barre de statut. Panneau droit : onglets « Modèle unique » et « Comparaison ».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296" y="1188720"/>
            <a:ext cx="6413847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7" name="Google Shape;287;p1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1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2 : Paramètres du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1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distribution_a :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 Amplitude maximale de la courbe de pénétration du marché.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distribution_b 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: Décalage de la courbe de pénétration selon le niveau de richesse.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kenza_k1 : constante agrégée K1 de la loi, multiplicateur de la population.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kenza_k2 : seuil de revenu normalisé K2, échelle du rapport prix du billet / PIB par habitant.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curve_c : coefficient c de la courbe logistique (niveau global).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curve_d : exposant d du prix normalisé dans la courbe logistique.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092440" y="1425955"/>
            <a:ext cx="3108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Paramètres modifiables — noms actuels ; la capture ci-contre montre les anciens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425957"/>
            <a:ext cx="6720840" cy="4143245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8" name="Google Shape;298;p1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2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3 : Résultat d’un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7818125" y="1234450"/>
            <a:ext cx="3876900" cy="466350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Métriques recalculées — la capture ci-contre date de la version antérieure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7896052" y="2094013"/>
            <a:ext cx="3876900" cy="3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253365" lvl="0" marL="265430" marR="245427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RMSE : 6 024 (hors échantillon, 2012-2019).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MAE : 4 671.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MAPE : 5,3 %.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R² hors échantillon : 0,656.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Graphique : historique (points) et prévision (courbe), encadrée d'une bande ±20 % — forfait indicatif, non statistique.</a:t>
            </a:r>
            <a:endParaRPr b="0" i="0" sz="10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9" name="Google Shape;30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303455"/>
            <a:ext cx="6720840" cy="4388249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0" name="Google Shape;310;p1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3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4 : Comparaison des modèles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Nature de la bande affichée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8092475" y="2781363"/>
            <a:ext cx="3108900" cy="156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304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6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Exemple 2030 : centrale 96 982, bande [77 585 ; 116 378] — soit exactement ±20 %, largeur fixée d'avance.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 bande ne mesure pas l'incertitude : sa largeur ne dépend ni des données ni de la qualité de l'ajustement. Scénarios « bas » et</a:t>
            </a:r>
            <a:endParaRPr b="0" i="0" sz="126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« haut » basés sur des hypothèses économiques : à déterminer.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1" name="Google Shape;32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1005" y="1188720"/>
            <a:ext cx="6610429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2" name="Google Shape;322;p1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RÉSULTATS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Résultats sur données de test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Jeu d'exemple : sample.csv (série synthétique)   ·   Modèle : Kenza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45720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59436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59436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RMSE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338328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4"/>
          <p:cNvSpPr/>
          <p:nvPr/>
        </p:nvSpPr>
        <p:spPr>
          <a:xfrm>
            <a:off x="352044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352044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630936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644652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644652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/>
          <p:nvPr/>
        </p:nvSpPr>
        <p:spPr>
          <a:xfrm>
            <a:off x="923544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937260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0,66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937260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R² hors échantillon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457200" y="3291840"/>
            <a:ext cx="11247120" cy="2468880"/>
          </a:xfrm>
          <a:prstGeom prst="roundRect">
            <a:avLst>
              <a:gd fmla="val 370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731520" y="3474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/>
          <p:nvPr/>
        </p:nvSpPr>
        <p:spPr>
          <a:xfrm>
            <a:off x="731520" y="3931920"/>
            <a:ext cx="106984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Calage 1990-2011, validation 2012-2019 : huit années jamais vues par le modèle.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5,3 % d'erreur relative moyenne hors échantillon. Le R² dans l'échantillon vaut 1 par construction pour ce modèle : il ne mesure rien.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Projection 2049, hypothèses macro par défaut : +79 % vs 2019.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Fenêtre choisie hors COVID. En incluant 2020-2023, le R² hors échantillon de toutes les variantes devient négatif : le choc n'est pas prévisible à partir de la population et du revenu.
• Les valeurs n'incluent pas les transferts (ex. avec Toronto).</a:t>
            </a:r>
            <a:b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346" name="Google Shape;346;p1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Comparaison des variantes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0175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44653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59131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73609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hors 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359;p15"/>
          <p:cNvSpPr/>
          <p:nvPr/>
        </p:nvSpPr>
        <p:spPr>
          <a:xfrm>
            <a:off x="88087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macro réelle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102565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in-éch.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0175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13 835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44653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11 165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59131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12,8 %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73609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366;p15"/>
          <p:cNvSpPr/>
          <p:nvPr/>
        </p:nvSpPr>
        <p:spPr>
          <a:xfrm>
            <a:off x="88087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-0,78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102565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-0,14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039112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039112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0175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10 498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44653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8 356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59131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9,6 %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73609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373;p15"/>
          <p:cNvSpPr/>
          <p:nvPr/>
        </p:nvSpPr>
        <p:spPr>
          <a:xfrm>
            <a:off x="88087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+0,46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102565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478024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478024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0175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44653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59131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73609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380;p15"/>
          <p:cNvSpPr/>
          <p:nvPr/>
        </p:nvSpPr>
        <p:spPr>
          <a:xfrm>
            <a:off x="88087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-0,32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102565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1,00 *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2916936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2916936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0175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8 384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44653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6 574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59131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73609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387;p15"/>
          <p:cNvSpPr/>
          <p:nvPr/>
        </p:nvSpPr>
        <p:spPr>
          <a:xfrm>
            <a:off x="88087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+0,56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102565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82;p15"/>
          <p:cNvSpPr/>
          <p:nvPr/>
        </p:nvSpPr>
        <p:spPr>
          <a:xfrm>
            <a:off x="457200" y="3355848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83;p15"/>
          <p:cNvSpPr/>
          <p:nvPr/>
        </p:nvSpPr>
        <p:spPr>
          <a:xfrm>
            <a:off x="457200" y="3355848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84;p15"/>
          <p:cNvSpPr/>
          <p:nvPr/>
        </p:nvSpPr>
        <p:spPr>
          <a:xfrm>
            <a:off x="30175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8 540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85;p15"/>
          <p:cNvSpPr/>
          <p:nvPr/>
        </p:nvSpPr>
        <p:spPr>
          <a:xfrm>
            <a:off x="44653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6 660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86;p15"/>
          <p:cNvSpPr/>
          <p:nvPr/>
        </p:nvSpPr>
        <p:spPr>
          <a:xfrm>
            <a:off x="59131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7,6 %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87;p15"/>
          <p:cNvSpPr/>
          <p:nvPr/>
        </p:nvSpPr>
        <p:spPr>
          <a:xfrm>
            <a:off x="73609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387;p15"/>
          <p:cNvSpPr/>
          <p:nvPr/>
        </p:nvSpPr>
        <p:spPr>
          <a:xfrm>
            <a:off x="88087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-0,55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388;p15"/>
          <p:cNvSpPr/>
          <p:nvPr/>
        </p:nvSpPr>
        <p:spPr>
          <a:xfrm>
            <a:off x="102565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+0,88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* R² in-échantillon = 1 par construction : Kenza indexé inverse la distribution à partir du trafic observé. « R² hors éch. » projette la macro aux hypothèses par défaut du code (population +1 %, PIB +3 %, prix +2 % par an) ; « R² macro réelle » rejoue la même prévision avec la macro observée sur 2012-2019 (+0,73 %, +1,25 %, −0,69 %).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4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Calage 1990-2011, validation 2012-2019. Les deux colonnes hors échantillon rejouent la même prévision sous des hypothèses macro différentes, et le classement s'inverse : Kenza indexé passe de +0,66 à −0,32, Kenza simplifié de −0,05 à +0,46. À huit ans d'horizon, l'écart entre un PIB supposé à +3 % par an et le +1,25 % observé pèse plus lourd que le choix du modèle. Aucune de ces colonnes ne classe donc les variantes — la diapositive suivante s'y emploie, à horizon plus court.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DONNÉES DEMANDÉES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à réunir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7"/>
          <p:cNvSpPr/>
          <p:nvPr/>
        </p:nvSpPr>
        <p:spPr>
          <a:xfrm>
            <a:off x="45720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7"/>
          <p:cNvSpPr/>
          <p:nvPr/>
        </p:nvSpPr>
        <p:spPr>
          <a:xfrm>
            <a:off x="73152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Trafic 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7"/>
          <p:cNvSpPr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Annuel, ≥ 20 ans, si possible par segment (domestique, transfrontalier, international).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7"/>
          <p:cNvSpPr/>
          <p:nvPr/>
        </p:nvSpPr>
        <p:spPr>
          <a:xfrm>
            <a:off x="621792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7"/>
          <p:cNvSpPr/>
          <p:nvPr/>
        </p:nvSpPr>
        <p:spPr>
          <a:xfrm>
            <a:off x="649224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Prévisions macro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7"/>
          <p:cNvSpPr/>
          <p:nvPr/>
        </p:nvSpPr>
        <p:spPr>
          <a:xfrm>
            <a:off x="649224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et population de la zone de chalandise (sources officielles ou internes).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7"/>
          <p:cNvSpPr/>
          <p:nvPr/>
        </p:nvSpPr>
        <p:spPr>
          <a:xfrm>
            <a:off x="45720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7"/>
          <p:cNvSpPr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du billet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7"/>
          <p:cNvSpPr/>
          <p:nvPr/>
        </p:nvSpPr>
        <p:spPr>
          <a:xfrm>
            <a:off x="73152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pondéré ou indices disponibles (optionnel pour variantes indexées).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7"/>
          <p:cNvSpPr/>
          <p:nvPr/>
        </p:nvSpPr>
        <p:spPr>
          <a:xfrm>
            <a:off x="621792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7"/>
          <p:cNvSpPr/>
          <p:nvPr/>
        </p:nvSpPr>
        <p:spPr>
          <a:xfrm>
            <a:off x="649224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Hypothèses internes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7"/>
          <p:cNvSpPr/>
          <p:nvPr/>
        </p:nvSpPr>
        <p:spPr>
          <a:xfrm>
            <a:off x="649224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Études antérieures, plan stratégique, scénarios déjà utilisés.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7"/>
          <p:cNvSpPr/>
          <p:nvPr/>
        </p:nvSpPr>
        <p:spPr>
          <a:xfrm>
            <a:off x="45720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7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Contraintes capacité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7"/>
          <p:cNvSpPr/>
          <p:nvPr/>
        </p:nvSpPr>
        <p:spPr>
          <a:xfrm>
            <a:off x="73152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Mouvements max, surface terminale, slots, projets d'infrastructure.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7"/>
          <p:cNvSpPr/>
          <p:nvPr/>
        </p:nvSpPr>
        <p:spPr>
          <a:xfrm>
            <a:off x="621792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7"/>
          <p:cNvSpPr/>
          <p:nvPr/>
        </p:nvSpPr>
        <p:spPr>
          <a:xfrm>
            <a:off x="649224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Segmentation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7"/>
          <p:cNvSpPr/>
          <p:nvPr/>
        </p:nvSpPr>
        <p:spPr>
          <a:xfrm>
            <a:off x="649224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Par type de passagers (loisir / affaires) si disponible.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9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DÉCISIONS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Intrants nécessaires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9"/>
          <p:cNvSpPr/>
          <p:nvPr/>
        </p:nvSpPr>
        <p:spPr>
          <a:xfrm>
            <a:off x="457200" y="1051560"/>
            <a:ext cx="10972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Approbations et orientations à obtenir 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9"/>
          <p:cNvSpPr/>
          <p:nvPr/>
        </p:nvSpPr>
        <p:spPr>
          <a:xfrm>
            <a:off x="457200" y="155448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9"/>
          <p:cNvSpPr/>
          <p:nvPr/>
        </p:nvSpPr>
        <p:spPr>
          <a:xfrm>
            <a:off x="640080" y="169164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9"/>
          <p:cNvSpPr/>
          <p:nvPr/>
        </p:nvSpPr>
        <p:spPr>
          <a:xfrm>
            <a:off x="1280160" y="164592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Validation du périmètre : le modèle Kenza est adapté aux besoins de l'exploitant.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9"/>
          <p:cNvSpPr/>
          <p:nvPr/>
        </p:nvSpPr>
        <p:spPr>
          <a:xfrm>
            <a:off x="457200" y="233172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9"/>
          <p:cNvSpPr/>
          <p:nvPr/>
        </p:nvSpPr>
        <p:spPr>
          <a:xfrm>
            <a:off x="640080" y="246888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9"/>
          <p:cNvSpPr/>
          <p:nvPr/>
        </p:nvSpPr>
        <p:spPr>
          <a:xfrm>
            <a:off x="1280160" y="242316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: confirmation des fichiers disponibles et du calendrier de transmission.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9"/>
          <p:cNvSpPr/>
          <p:nvPr/>
        </p:nvSpPr>
        <p:spPr>
          <a:xfrm>
            <a:off x="457200" y="310896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9"/>
          <p:cNvSpPr/>
          <p:nvPr/>
        </p:nvSpPr>
        <p:spPr>
          <a:xfrm>
            <a:off x="640080" y="324612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9"/>
          <p:cNvSpPr/>
          <p:nvPr/>
        </p:nvSpPr>
        <p:spPr>
          <a:xfrm>
            <a:off x="1280160" y="320040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: choix des hypothèses centrales, haut et bas (taux de croissance, inflation).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9"/>
          <p:cNvSpPr/>
          <p:nvPr/>
        </p:nvSpPr>
        <p:spPr>
          <a:xfrm>
            <a:off x="457200" y="388620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9"/>
          <p:cNvSpPr/>
          <p:nvPr/>
        </p:nvSpPr>
        <p:spPr>
          <a:xfrm>
            <a:off x="640080" y="402336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9"/>
          <p:cNvSpPr/>
          <p:nvPr/>
        </p:nvSpPr>
        <p:spPr>
          <a:xfrm>
            <a:off x="1280160" y="397764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Fourchettes : principe retenu (percentiles statistiques ou scénarios économiques).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9"/>
          <p:cNvSpPr/>
          <p:nvPr/>
        </p:nvSpPr>
        <p:spPr>
          <a:xfrm>
            <a:off x="457200" y="466344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9"/>
          <p:cNvSpPr/>
          <p:nvPr/>
        </p:nvSpPr>
        <p:spPr>
          <a:xfrm>
            <a:off x="640080" y="480060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9"/>
          <p:cNvSpPr/>
          <p:nvPr/>
        </p:nvSpPr>
        <p:spPr>
          <a:xfrm>
            <a:off x="1280160" y="475488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Prochaine étape : validation du planning et désignation des points de contact.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f6e2a12bd2_0_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image.png" id="449" name="Google Shape;449;g3f6e2a12bd2_0_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9125" y="6086475"/>
            <a:ext cx="109537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0" name="Google Shape;450;g3f6e2a12bd2_0_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125" y="4991100"/>
            <a:ext cx="10953750" cy="90487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f6e2a12bd2_0_4"/>
          <p:cNvSpPr txBox="1"/>
          <p:nvPr/>
        </p:nvSpPr>
        <p:spPr>
          <a:xfrm>
            <a:off x="619125" y="476250"/>
            <a:ext cx="10953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07 · PERSPECTIVES &amp; DÉVELOPPEMENTS</a:t>
            </a:r>
            <a:endParaRPr/>
          </a:p>
        </p:txBody>
      </p:sp>
      <p:sp>
        <p:nvSpPr>
          <p:cNvPr id="452" name="Google Shape;452;g3f6e2a12bd2_0_4"/>
          <p:cNvSpPr txBox="1"/>
          <p:nvPr/>
        </p:nvSpPr>
        <p:spPr>
          <a:xfrm>
            <a:off x="619125" y="723900"/>
            <a:ext cx="115014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Axes de recherche et développement</a:t>
            </a:r>
            <a:endParaRPr/>
          </a:p>
        </p:txBody>
      </p:sp>
      <p:sp>
        <p:nvSpPr>
          <p:cNvPr id="453" name="Google Shape;453;g3f6e2a12bd2_0_4"/>
          <p:cNvSpPr txBox="1"/>
          <p:nvPr/>
        </p:nvSpPr>
        <p:spPr>
          <a:xfrm>
            <a:off x="619125" y="6229350"/>
            <a:ext cx="346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Prévision du trafic aérien à long terme</a:t>
            </a:r>
            <a:endParaRPr/>
          </a:p>
        </p:txBody>
      </p:sp>
      <p:sp>
        <p:nvSpPr>
          <p:cNvPr id="454" name="Google Shape;454;g3f6e2a12bd2_0_4"/>
          <p:cNvSpPr/>
          <p:nvPr/>
        </p:nvSpPr>
        <p:spPr>
          <a:xfrm>
            <a:off x="619125" y="647700"/>
            <a:ext cx="66600" cy="666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g3f6e2a12bd2_0_4"/>
          <p:cNvSpPr txBox="1"/>
          <p:nvPr/>
        </p:nvSpPr>
        <p:spPr>
          <a:xfrm>
            <a:off x="619125" y="5191125"/>
            <a:ext cx="11501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Mélange des méthodes</a:t>
            </a:r>
            <a:endParaRPr/>
          </a:p>
        </p:txBody>
      </p:sp>
      <p:sp>
        <p:nvSpPr>
          <p:cNvPr id="456" name="Google Shape;456;g3f6e2a12bd2_0_4"/>
          <p:cNvSpPr txBox="1"/>
          <p:nvPr/>
        </p:nvSpPr>
        <p:spPr>
          <a:xfrm>
            <a:off x="619125" y="5467350"/>
            <a:ext cx="109539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Possibilité de combiner ces approches (par exemple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02 et 03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)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pour étudier la méthode la plus efficace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/>
          </a:p>
        </p:txBody>
      </p:sp>
      <p:sp>
        <p:nvSpPr>
          <p:cNvPr id="457" name="Google Shape;457;g3f6e2a12bd2_0_4"/>
          <p:cNvSpPr txBox="1"/>
          <p:nvPr/>
        </p:nvSpPr>
        <p:spPr>
          <a:xfrm>
            <a:off x="619125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  <a:endParaRPr/>
          </a:p>
        </p:txBody>
      </p:sp>
      <p:sp>
        <p:nvSpPr>
          <p:cNvPr id="458" name="Google Shape;458;g3f6e2a12bd2_0_4"/>
          <p:cNvSpPr txBox="1"/>
          <p:nvPr/>
        </p:nvSpPr>
        <p:spPr>
          <a:xfrm>
            <a:off x="619125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Bootstrap</a:t>
            </a:r>
            <a:endParaRPr/>
          </a:p>
        </p:txBody>
      </p:sp>
      <p:sp>
        <p:nvSpPr>
          <p:cNvPr id="459" name="Google Shape;459;g3f6e2a12bd2_0_4"/>
          <p:cNvSpPr txBox="1"/>
          <p:nvPr/>
        </p:nvSpPr>
        <p:spPr>
          <a:xfrm>
            <a:off x="619125" y="2082105"/>
            <a:ext cx="33654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Variante de la méthode de Kenza déjà implémentée par le passé et utilisée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par ADP 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pour probabiliser la demande en rééchantillonnant les données historiques. </a:t>
            </a:r>
            <a:endParaRPr/>
          </a:p>
        </p:txBody>
      </p:sp>
      <p:sp>
        <p:nvSpPr>
          <p:cNvPr id="460" name="Google Shape;460;g3f6e2a12bd2_0_4"/>
          <p:cNvSpPr txBox="1"/>
          <p:nvPr/>
        </p:nvSpPr>
        <p:spPr>
          <a:xfrm>
            <a:off x="4413200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  <a:endParaRPr/>
          </a:p>
        </p:txBody>
      </p:sp>
      <p:sp>
        <p:nvSpPr>
          <p:cNvPr id="461" name="Google Shape;461;g3f6e2a12bd2_0_4"/>
          <p:cNvSpPr txBox="1"/>
          <p:nvPr/>
        </p:nvSpPr>
        <p:spPr>
          <a:xfrm>
            <a:off x="4413200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contextuelle</a:t>
            </a:r>
            <a:endParaRPr/>
          </a:p>
        </p:txBody>
      </p:sp>
      <p:sp>
        <p:nvSpPr>
          <p:cNvPr id="462" name="Google Shape;462;g3f6e2a12bd2_0_4"/>
          <p:cNvSpPr txBox="1"/>
          <p:nvPr/>
        </p:nvSpPr>
        <p:spPr>
          <a:xfrm>
            <a:off x="4413200" y="2082105"/>
            <a:ext cx="3365400" cy="12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Approche dans laquelle les hypothèses macroéconomiques et les scénarios de marché sont intégrés directement comme des informations additionnelles pour adapter le modèle.</a:t>
            </a:r>
            <a:endParaRPr/>
          </a:p>
        </p:txBody>
      </p:sp>
      <p:sp>
        <p:nvSpPr>
          <p:cNvPr id="463" name="Google Shape;463;g3f6e2a12bd2_0_4"/>
          <p:cNvSpPr txBox="1"/>
          <p:nvPr/>
        </p:nvSpPr>
        <p:spPr>
          <a:xfrm>
            <a:off x="8207275" y="1491555"/>
            <a:ext cx="336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  <a:endParaRPr/>
          </a:p>
        </p:txBody>
      </p:sp>
      <p:sp>
        <p:nvSpPr>
          <p:cNvPr id="464" name="Google Shape;464;g3f6e2a12bd2_0_4"/>
          <p:cNvSpPr txBox="1"/>
          <p:nvPr/>
        </p:nvSpPr>
        <p:spPr>
          <a:xfrm>
            <a:off x="8207275" y="1720155"/>
            <a:ext cx="3534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robuste en distribution</a:t>
            </a:r>
            <a:endParaRPr/>
          </a:p>
        </p:txBody>
      </p:sp>
      <p:sp>
        <p:nvSpPr>
          <p:cNvPr id="465" name="Google Shape;465;g3f6e2a12bd2_0_4"/>
          <p:cNvSpPr txBox="1"/>
          <p:nvPr/>
        </p:nvSpPr>
        <p:spPr>
          <a:xfrm>
            <a:off x="8207275" y="2329755"/>
            <a:ext cx="3365700" cy="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Méthode centrée sur l'analyse du pire cas afin d'assurer la résilience des décisions face aux incertitudes et à la variabilité des données.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0"/>
          <p:cNvSpPr/>
          <p:nvPr/>
        </p:nvSpPr>
        <p:spPr>
          <a:xfrm>
            <a:off x="777240" y="960120"/>
            <a:ext cx="10515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0"/>
          <p:cNvSpPr/>
          <p:nvPr/>
        </p:nvSpPr>
        <p:spPr>
          <a:xfrm>
            <a:off x="777240" y="1600200"/>
            <a:ext cx="106071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9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La méthode Kenza offre un cadre robuste et flexible pour la prévision du trafic.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0"/>
          <p:cNvSpPr/>
          <p:nvPr/>
        </p:nvSpPr>
        <p:spPr>
          <a:xfrm>
            <a:off x="777240" y="3429010"/>
            <a:ext cx="10241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Merci de votre attention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0"/>
          <p:cNvSpPr/>
          <p:nvPr/>
        </p:nvSpPr>
        <p:spPr>
          <a:xfrm>
            <a:off x="914340" y="4523740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Auteurs :</a:t>
            </a:r>
            <a:endParaRPr b="0" i="0" sz="11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Font typeface="Arial"/>
              <a:buChar char="●"/>
            </a:pPr>
            <a:r>
              <a:rPr lang="en-US" sz="1150">
                <a:solidFill>
                  <a:srgbClr val="6F7A84"/>
                </a:solidFill>
                <a:uFill>
                  <a:noFill/>
                </a:uFill>
              </a:rPr>
              <a:t>Chama EL KHEMSANI — ENAC</a:t>
            </a:r>
            <a:r>
              <a:rPr lang="en-US" sz="1150">
                <a:solidFill>
                  <a:srgbClr val="6F7A84"/>
                </a:solidFill>
              </a:rPr>
              <a:t/>
            </a:r>
            <a:endParaRPr sz="1150">
              <a:solidFill>
                <a:srgbClr val="6F7A84"/>
              </a:solidFill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Char char="●"/>
            </a:pPr>
            <a:r>
              <a:rPr lang="en-US" sz="1150">
                <a:solidFill>
                  <a:srgbClr val="6F7A84"/>
                </a:solidFill>
              </a:rPr>
              <a:t>Fabian BASTIN — Université de Montréal</a:t>
            </a:r>
            <a:endParaRPr sz="1150">
              <a:solidFill>
                <a:srgbClr val="6F7A84"/>
              </a:solidFill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50">
                <a:solidFill>
                  <a:srgbClr val="6F7A84"/>
                </a:solidFill>
              </a:rPr>
              <a:t>Daniel SALLIER — expertise Kenza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75" name="Google Shape;475;p2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Validation croisée : backtest glissant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0175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44653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59131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73609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glissant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359;p15"/>
          <p:cNvSpPr/>
          <p:nvPr/>
        </p:nvSpPr>
        <p:spPr>
          <a:xfrm>
            <a:off x="88087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macro réelle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102565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1 coupure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0175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6 932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44653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4 806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59131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73609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366;p15"/>
          <p:cNvSpPr/>
          <p:nvPr/>
        </p:nvSpPr>
        <p:spPr>
          <a:xfrm>
            <a:off x="88087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+0,54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102565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039112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039112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0175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5 994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44653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4 351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59131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5,7 %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73609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373;p15"/>
          <p:cNvSpPr/>
          <p:nvPr/>
        </p:nvSpPr>
        <p:spPr>
          <a:xfrm>
            <a:off x="88087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102565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478024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478024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0175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5 330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44653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4 115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59131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73609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380;p15"/>
          <p:cNvSpPr/>
          <p:nvPr/>
        </p:nvSpPr>
        <p:spPr>
          <a:xfrm>
            <a:off x="88087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102565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2916936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2916936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0175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44653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4 742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59131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6,4 %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73609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387;p15"/>
          <p:cNvSpPr/>
          <p:nvPr/>
        </p:nvSpPr>
        <p:spPr>
          <a:xfrm>
            <a:off x="88087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102565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82;p15"/>
          <p:cNvSpPr/>
          <p:nvPr/>
        </p:nvSpPr>
        <p:spPr>
          <a:xfrm>
            <a:off x="457200" y="3355848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83;p15"/>
          <p:cNvSpPr/>
          <p:nvPr/>
        </p:nvSpPr>
        <p:spPr>
          <a:xfrm>
            <a:off x="457200" y="3355848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84;p15"/>
          <p:cNvSpPr/>
          <p:nvPr/>
        </p:nvSpPr>
        <p:spPr>
          <a:xfrm>
            <a:off x="30175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5 555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85;p15"/>
          <p:cNvSpPr/>
          <p:nvPr/>
        </p:nvSpPr>
        <p:spPr>
          <a:xfrm>
            <a:off x="44653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4 150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86;p15"/>
          <p:cNvSpPr/>
          <p:nvPr/>
        </p:nvSpPr>
        <p:spPr>
          <a:xfrm>
            <a:off x="59131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87;p15"/>
          <p:cNvSpPr/>
          <p:nvPr/>
        </p:nvSpPr>
        <p:spPr>
          <a:xfrm>
            <a:off x="73609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387;p15"/>
          <p:cNvSpPr/>
          <p:nvPr/>
        </p:nvSpPr>
        <p:spPr>
          <a:xfrm>
            <a:off x="88087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388;p15"/>
          <p:cNvSpPr/>
          <p:nvPr/>
        </p:nvSpPr>
        <p:spPr>
          <a:xfrm>
            <a:off x="102565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Backtest glissant : calage initial de 10 ans, puis toutes les coupures jusqu'en 2019, horizon 5 ans — environ 19 fenêtres. « R² macro réelle » rejoue le même backtest avec la macro observée sur 1990-2019 (population +0,67 %, PIB +1,42 %, prix +0,85 % par an). La dernière colonne reprend la diapositive précédente.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8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11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En moyennant toutes les coupures possibles à horizon 5 ans, les cinq variantes expliquent 60 à 77 % de la variance hors échantillon, pour 5,5 à 6,4 % d'erreur relative. Ce classement-ci résiste à l'hypothèse macro : il perd 0,06 à 0,09 point avec la macro observée, sans changer d'ordre, là où celui de la diapositive précédente s'inversait.
Réserve : sur ce jeu synthétique, le trafic 2012-2019 croît de 5,0 % par an quand la population avance de 0,7 % et le PIB par habitant de 1,25 %. Aucun modèle fondé sur ces moteurs ne peut suivre — ces R² mesurent donc d'abord l'écart entre une trajectoire fabriquée et ses propres régresseurs.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