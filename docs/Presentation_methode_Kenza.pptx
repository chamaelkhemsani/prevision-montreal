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279600" y="2842022"/>
            <a:ext cx="20766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Airbus, etc.). 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</a:t>
            </a:r>
            <a:r>
              <a:rPr b="1" lang="en-US" sz="1550">
                <a:solidFill>
                  <a:srgbClr val="17324D"/>
                </a:solidFill>
              </a:rPr>
              <a:t>absolu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</a:t>
            </a:r>
            <a:r>
              <a:rPr lang="en-US" sz="1350">
                <a:solidFill>
                  <a:srgbClr val="2F3A44"/>
                </a:solidFill>
              </a:rPr>
              <a:t>absolu 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très bas -&gt; saturation  ·  Prix </a:t>
            </a:r>
            <a:r>
              <a:rPr lang="en-US" sz="1350">
                <a:solidFill>
                  <a:srgbClr val="2F3A44"/>
                </a:solidFill>
              </a:rPr>
              <a:t>absolu très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élevé -&gt; demande nulle </a:t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</a:t>
            </a:r>
            <a:r>
              <a:rPr baseline="-25000" lang="en-US" sz="1350">
                <a:solidFill>
                  <a:srgbClr val="2F3A44"/>
                </a:solidFill>
              </a:rPr>
              <a:t>1</a:t>
            </a:r>
            <a:r>
              <a:rPr lang="en-US" sz="1350">
                <a:solidFill>
                  <a:srgbClr val="2F3A44"/>
                </a:solidFill>
              </a:rPr>
              <a:t> : proportion de gens voyageant</a:t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</a:t>
            </a:r>
            <a:r>
              <a:rPr baseline="-25000" lang="en-US" sz="1350">
                <a:solidFill>
                  <a:srgbClr val="2F3A44"/>
                </a:solidFill>
              </a:rPr>
              <a:t>2</a:t>
            </a:r>
            <a:r>
              <a:rPr lang="en-US" sz="1350">
                <a:solidFill>
                  <a:srgbClr val="2F3A44"/>
                </a:solidFill>
              </a:rPr>
              <a:t>: autre coefficient xxx</a:t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∈ [0;1], b &gt; 0, c &lt; 0, d &gt; 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non-régression, parité vérifiée avec le classeur Excel de référence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Haut: chargement du fichier, aperçu des données, statistiques.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Centre : paramètres du modèle (période, horizon, croissance, options avancées).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Bas : bouton « Lancer la prévision », onglets résultats.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 de performance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14884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14884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77 264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65 000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75,8 %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1488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-55,6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14884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-49,0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697480"/>
            <a:ext cx="11247120" cy="548640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69748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69748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324612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324612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32461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324612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Seule la colonne hors échantillon mesure un pouvoir prédictif.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Hors échantillon, les variantes indexées dominent nettement et Kenza simplifié diverge. Un score « sur historique » ne classe pas les modèles : Kenza indexé y affiche un R² de 1 sans qu'il mesure quoi que ce soit. Le choix final dépendra des données disponibles (prix ou non) et des besoins de scénarios.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